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060"/>
    <p:restoredTop sz="94630"/>
  </p:normalViewPr>
  <p:slideViewPr>
    <p:cSldViewPr snapToGrid="0">
      <p:cViewPr>
        <p:scale>
          <a:sx n="101" d="100"/>
          <a:sy n="101" d="100"/>
        </p:scale>
        <p:origin x="40" y="4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EAC28A-5380-B842-A663-529C0B3CC488}" type="datetimeFigureOut">
              <a:rPr lang="en-US" smtClean="0"/>
              <a:t>9/3/26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09572B-7108-8B46-9764-FB26E7114CE6}" type="slidenum">
              <a:rPr lang="en-US" smtClean="0"/>
              <a:t>‹#›</a:t>
            </a:fld>
            <a:endParaRPr lang="en-US"/>
          </a:p>
        </p:txBody>
      </p:sp>
    </p:spTree>
    <p:extLst>
      <p:ext uri="{BB962C8B-B14F-4D97-AF65-F5344CB8AC3E}">
        <p14:creationId xmlns:p14="http://schemas.microsoft.com/office/powerpoint/2010/main" val="71442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09572B-7108-8B46-9764-FB26E7114CE6}" type="slidenum">
              <a:rPr lang="en-US" smtClean="0"/>
              <a:t>2</a:t>
            </a:fld>
            <a:endParaRPr lang="en-US"/>
          </a:p>
        </p:txBody>
      </p:sp>
    </p:spTree>
    <p:extLst>
      <p:ext uri="{BB962C8B-B14F-4D97-AF65-F5344CB8AC3E}">
        <p14:creationId xmlns:p14="http://schemas.microsoft.com/office/powerpoint/2010/main" val="2046918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DABC0-FC5B-F116-EA83-F5139522138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B5A4F82-6472-C6F2-987F-1B06B28D97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4D6F54C-7EF3-6FA7-4A89-56A5131B8BBF}"/>
              </a:ext>
            </a:extLst>
          </p:cNvPr>
          <p:cNvSpPr>
            <a:spLocks noGrp="1"/>
          </p:cNvSpPr>
          <p:nvPr>
            <p:ph type="dt" sz="half" idx="10"/>
          </p:nvPr>
        </p:nvSpPr>
        <p:spPr/>
        <p:txBody>
          <a:bodyPr/>
          <a:lstStyle/>
          <a:p>
            <a:fld id="{341C9FD4-8EB3-6941-B909-A7D3AC5F8BD7}" type="datetimeFigureOut">
              <a:rPr lang="en-US" smtClean="0"/>
              <a:t>9/3/26</a:t>
            </a:fld>
            <a:endParaRPr lang="en-US"/>
          </a:p>
        </p:txBody>
      </p:sp>
      <p:sp>
        <p:nvSpPr>
          <p:cNvPr id="5" name="Footer Placeholder 4">
            <a:extLst>
              <a:ext uri="{FF2B5EF4-FFF2-40B4-BE49-F238E27FC236}">
                <a16:creationId xmlns:a16="http://schemas.microsoft.com/office/drawing/2014/main" id="{E5A6A28C-E8A9-9E45-9A80-9398E28164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3CA26E-0919-417B-D337-DE3CD728858D}"/>
              </a:ext>
            </a:extLst>
          </p:cNvPr>
          <p:cNvSpPr>
            <a:spLocks noGrp="1"/>
          </p:cNvSpPr>
          <p:nvPr>
            <p:ph type="sldNum" sz="quarter" idx="12"/>
          </p:nvPr>
        </p:nvSpPr>
        <p:spPr/>
        <p:txBody>
          <a:bodyPr/>
          <a:lstStyle/>
          <a:p>
            <a:fld id="{05C38E62-EDA3-5B45-9AE2-1548453E25D3}" type="slidenum">
              <a:rPr lang="en-US" smtClean="0"/>
              <a:t>‹#›</a:t>
            </a:fld>
            <a:endParaRPr lang="en-US"/>
          </a:p>
        </p:txBody>
      </p:sp>
    </p:spTree>
    <p:extLst>
      <p:ext uri="{BB962C8B-B14F-4D97-AF65-F5344CB8AC3E}">
        <p14:creationId xmlns:p14="http://schemas.microsoft.com/office/powerpoint/2010/main" val="675535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4A748-A54D-B3CD-B69B-FADC3411B56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1C89657-16CE-6618-B3C2-9BBACF316D8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2909C42-D242-18AF-769C-6B4B14DE62EE}"/>
              </a:ext>
            </a:extLst>
          </p:cNvPr>
          <p:cNvSpPr>
            <a:spLocks noGrp="1"/>
          </p:cNvSpPr>
          <p:nvPr>
            <p:ph type="dt" sz="half" idx="10"/>
          </p:nvPr>
        </p:nvSpPr>
        <p:spPr/>
        <p:txBody>
          <a:bodyPr/>
          <a:lstStyle/>
          <a:p>
            <a:fld id="{341C9FD4-8EB3-6941-B909-A7D3AC5F8BD7}" type="datetimeFigureOut">
              <a:rPr lang="en-US" smtClean="0"/>
              <a:t>9/3/26</a:t>
            </a:fld>
            <a:endParaRPr lang="en-US"/>
          </a:p>
        </p:txBody>
      </p:sp>
      <p:sp>
        <p:nvSpPr>
          <p:cNvPr id="5" name="Footer Placeholder 4">
            <a:extLst>
              <a:ext uri="{FF2B5EF4-FFF2-40B4-BE49-F238E27FC236}">
                <a16:creationId xmlns:a16="http://schemas.microsoft.com/office/drawing/2014/main" id="{DE86E11F-F79C-00D4-B13E-1E4C675EEB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DF712-CA68-9B84-DB20-FDBD9FA96DBE}"/>
              </a:ext>
            </a:extLst>
          </p:cNvPr>
          <p:cNvSpPr>
            <a:spLocks noGrp="1"/>
          </p:cNvSpPr>
          <p:nvPr>
            <p:ph type="sldNum" sz="quarter" idx="12"/>
          </p:nvPr>
        </p:nvSpPr>
        <p:spPr/>
        <p:txBody>
          <a:bodyPr/>
          <a:lstStyle/>
          <a:p>
            <a:fld id="{05C38E62-EDA3-5B45-9AE2-1548453E25D3}" type="slidenum">
              <a:rPr lang="en-US" smtClean="0"/>
              <a:t>‹#›</a:t>
            </a:fld>
            <a:endParaRPr lang="en-US"/>
          </a:p>
        </p:txBody>
      </p:sp>
    </p:spTree>
    <p:extLst>
      <p:ext uri="{BB962C8B-B14F-4D97-AF65-F5344CB8AC3E}">
        <p14:creationId xmlns:p14="http://schemas.microsoft.com/office/powerpoint/2010/main" val="133649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52F37-BA3D-B4A5-3799-11E93276983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38F88A6-6AD7-6800-5EB0-3E74276831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5364EF8-5944-6D9D-949B-C4F5BCA210BC}"/>
              </a:ext>
            </a:extLst>
          </p:cNvPr>
          <p:cNvSpPr>
            <a:spLocks noGrp="1"/>
          </p:cNvSpPr>
          <p:nvPr>
            <p:ph type="dt" sz="half" idx="10"/>
          </p:nvPr>
        </p:nvSpPr>
        <p:spPr/>
        <p:txBody>
          <a:bodyPr/>
          <a:lstStyle/>
          <a:p>
            <a:fld id="{341C9FD4-8EB3-6941-B909-A7D3AC5F8BD7}" type="datetimeFigureOut">
              <a:rPr lang="en-US" smtClean="0"/>
              <a:t>9/3/26</a:t>
            </a:fld>
            <a:endParaRPr lang="en-US"/>
          </a:p>
        </p:txBody>
      </p:sp>
      <p:sp>
        <p:nvSpPr>
          <p:cNvPr id="5" name="Footer Placeholder 4">
            <a:extLst>
              <a:ext uri="{FF2B5EF4-FFF2-40B4-BE49-F238E27FC236}">
                <a16:creationId xmlns:a16="http://schemas.microsoft.com/office/drawing/2014/main" id="{9DC15049-7880-A2AD-1ABA-4CA5F3A713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6E5546-16C3-35B9-180B-BA7461E48DE2}"/>
              </a:ext>
            </a:extLst>
          </p:cNvPr>
          <p:cNvSpPr>
            <a:spLocks noGrp="1"/>
          </p:cNvSpPr>
          <p:nvPr>
            <p:ph type="sldNum" sz="quarter" idx="12"/>
          </p:nvPr>
        </p:nvSpPr>
        <p:spPr/>
        <p:txBody>
          <a:bodyPr/>
          <a:lstStyle/>
          <a:p>
            <a:fld id="{05C38E62-EDA3-5B45-9AE2-1548453E25D3}" type="slidenum">
              <a:rPr lang="en-US" smtClean="0"/>
              <a:t>‹#›</a:t>
            </a:fld>
            <a:endParaRPr lang="en-US"/>
          </a:p>
        </p:txBody>
      </p:sp>
    </p:spTree>
    <p:extLst>
      <p:ext uri="{BB962C8B-B14F-4D97-AF65-F5344CB8AC3E}">
        <p14:creationId xmlns:p14="http://schemas.microsoft.com/office/powerpoint/2010/main" val="3889324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CD54E-4200-7F30-3517-17C95C69EAF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0B6F5B5-B2FA-7148-AFEE-52440F5C354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3B362D7-645A-9D21-5250-298662FFF96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CB1B4E0-AF9A-C696-94A8-87C969ADD8E9}"/>
              </a:ext>
            </a:extLst>
          </p:cNvPr>
          <p:cNvSpPr>
            <a:spLocks noGrp="1"/>
          </p:cNvSpPr>
          <p:nvPr>
            <p:ph type="dt" sz="half" idx="10"/>
          </p:nvPr>
        </p:nvSpPr>
        <p:spPr/>
        <p:txBody>
          <a:bodyPr/>
          <a:lstStyle/>
          <a:p>
            <a:fld id="{341C9FD4-8EB3-6941-B909-A7D3AC5F8BD7}" type="datetimeFigureOut">
              <a:rPr lang="en-US" smtClean="0"/>
              <a:t>9/3/26</a:t>
            </a:fld>
            <a:endParaRPr lang="en-US"/>
          </a:p>
        </p:txBody>
      </p:sp>
      <p:sp>
        <p:nvSpPr>
          <p:cNvPr id="6" name="Footer Placeholder 5">
            <a:extLst>
              <a:ext uri="{FF2B5EF4-FFF2-40B4-BE49-F238E27FC236}">
                <a16:creationId xmlns:a16="http://schemas.microsoft.com/office/drawing/2014/main" id="{AC6AD67A-363A-220D-3ACB-8A80301781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6CC6BC-8F8E-E468-8C8B-571A11A5B21C}"/>
              </a:ext>
            </a:extLst>
          </p:cNvPr>
          <p:cNvSpPr>
            <a:spLocks noGrp="1"/>
          </p:cNvSpPr>
          <p:nvPr>
            <p:ph type="sldNum" sz="quarter" idx="12"/>
          </p:nvPr>
        </p:nvSpPr>
        <p:spPr/>
        <p:txBody>
          <a:bodyPr/>
          <a:lstStyle/>
          <a:p>
            <a:fld id="{05C38E62-EDA3-5B45-9AE2-1548453E25D3}" type="slidenum">
              <a:rPr lang="en-US" smtClean="0"/>
              <a:t>‹#›</a:t>
            </a:fld>
            <a:endParaRPr lang="en-US"/>
          </a:p>
        </p:txBody>
      </p:sp>
    </p:spTree>
    <p:extLst>
      <p:ext uri="{BB962C8B-B14F-4D97-AF65-F5344CB8AC3E}">
        <p14:creationId xmlns:p14="http://schemas.microsoft.com/office/powerpoint/2010/main" val="3575056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E3DF5-9A07-0AF9-9778-F2F50E4AA38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197AEAB-41A8-14F1-DABD-2352F700A2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EE1CA8F-2218-A4F1-4FAB-7F1D365C7C7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85B9674-6B38-321B-0702-86C6AC3723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058A536-EF17-72B8-F119-B671DD9C7C1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2D0D5D2-0AA3-5588-A189-03FBB20AB192}"/>
              </a:ext>
            </a:extLst>
          </p:cNvPr>
          <p:cNvSpPr>
            <a:spLocks noGrp="1"/>
          </p:cNvSpPr>
          <p:nvPr>
            <p:ph type="dt" sz="half" idx="10"/>
          </p:nvPr>
        </p:nvSpPr>
        <p:spPr/>
        <p:txBody>
          <a:bodyPr/>
          <a:lstStyle/>
          <a:p>
            <a:fld id="{341C9FD4-8EB3-6941-B909-A7D3AC5F8BD7}" type="datetimeFigureOut">
              <a:rPr lang="en-US" smtClean="0"/>
              <a:t>9/3/26</a:t>
            </a:fld>
            <a:endParaRPr lang="en-US"/>
          </a:p>
        </p:txBody>
      </p:sp>
      <p:sp>
        <p:nvSpPr>
          <p:cNvPr id="8" name="Footer Placeholder 7">
            <a:extLst>
              <a:ext uri="{FF2B5EF4-FFF2-40B4-BE49-F238E27FC236}">
                <a16:creationId xmlns:a16="http://schemas.microsoft.com/office/drawing/2014/main" id="{AA2250B1-2535-B84F-452C-75BD561262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EF0951-030A-92B1-8F2B-A081842B7489}"/>
              </a:ext>
            </a:extLst>
          </p:cNvPr>
          <p:cNvSpPr>
            <a:spLocks noGrp="1"/>
          </p:cNvSpPr>
          <p:nvPr>
            <p:ph type="sldNum" sz="quarter" idx="12"/>
          </p:nvPr>
        </p:nvSpPr>
        <p:spPr/>
        <p:txBody>
          <a:bodyPr/>
          <a:lstStyle/>
          <a:p>
            <a:fld id="{05C38E62-EDA3-5B45-9AE2-1548453E25D3}" type="slidenum">
              <a:rPr lang="en-US" smtClean="0"/>
              <a:t>‹#›</a:t>
            </a:fld>
            <a:endParaRPr lang="en-US"/>
          </a:p>
        </p:txBody>
      </p:sp>
    </p:spTree>
    <p:extLst>
      <p:ext uri="{BB962C8B-B14F-4D97-AF65-F5344CB8AC3E}">
        <p14:creationId xmlns:p14="http://schemas.microsoft.com/office/powerpoint/2010/main" val="1071682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F099C-CC59-BA62-A978-91268DB0E07B}"/>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95F358-9C0B-F42B-C8D1-CBF2AFF01D62}"/>
              </a:ext>
            </a:extLst>
          </p:cNvPr>
          <p:cNvSpPr>
            <a:spLocks noGrp="1"/>
          </p:cNvSpPr>
          <p:nvPr>
            <p:ph type="dt" sz="half" idx="10"/>
          </p:nvPr>
        </p:nvSpPr>
        <p:spPr/>
        <p:txBody>
          <a:bodyPr/>
          <a:lstStyle/>
          <a:p>
            <a:fld id="{341C9FD4-8EB3-6941-B909-A7D3AC5F8BD7}" type="datetimeFigureOut">
              <a:rPr lang="en-US" smtClean="0"/>
              <a:t>9/3/26</a:t>
            </a:fld>
            <a:endParaRPr lang="en-US"/>
          </a:p>
        </p:txBody>
      </p:sp>
      <p:sp>
        <p:nvSpPr>
          <p:cNvPr id="4" name="Footer Placeholder 3">
            <a:extLst>
              <a:ext uri="{FF2B5EF4-FFF2-40B4-BE49-F238E27FC236}">
                <a16:creationId xmlns:a16="http://schemas.microsoft.com/office/drawing/2014/main" id="{B03001F8-6DF9-C1E4-7C36-1A974E4C67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0FCEED8-D4DE-6560-19AF-08169333CB68}"/>
              </a:ext>
            </a:extLst>
          </p:cNvPr>
          <p:cNvSpPr>
            <a:spLocks noGrp="1"/>
          </p:cNvSpPr>
          <p:nvPr>
            <p:ph type="sldNum" sz="quarter" idx="12"/>
          </p:nvPr>
        </p:nvSpPr>
        <p:spPr/>
        <p:txBody>
          <a:bodyPr/>
          <a:lstStyle/>
          <a:p>
            <a:fld id="{05C38E62-EDA3-5B45-9AE2-1548453E25D3}" type="slidenum">
              <a:rPr lang="en-US" smtClean="0"/>
              <a:t>‹#›</a:t>
            </a:fld>
            <a:endParaRPr lang="en-US"/>
          </a:p>
        </p:txBody>
      </p:sp>
    </p:spTree>
    <p:extLst>
      <p:ext uri="{BB962C8B-B14F-4D97-AF65-F5344CB8AC3E}">
        <p14:creationId xmlns:p14="http://schemas.microsoft.com/office/powerpoint/2010/main" val="1116694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92ACF7-442E-B356-1A61-C37C6AD18F31}"/>
              </a:ext>
            </a:extLst>
          </p:cNvPr>
          <p:cNvSpPr>
            <a:spLocks noGrp="1"/>
          </p:cNvSpPr>
          <p:nvPr>
            <p:ph type="dt" sz="half" idx="10"/>
          </p:nvPr>
        </p:nvSpPr>
        <p:spPr/>
        <p:txBody>
          <a:bodyPr/>
          <a:lstStyle/>
          <a:p>
            <a:fld id="{341C9FD4-8EB3-6941-B909-A7D3AC5F8BD7}" type="datetimeFigureOut">
              <a:rPr lang="en-US" smtClean="0"/>
              <a:t>9/3/26</a:t>
            </a:fld>
            <a:endParaRPr lang="en-US"/>
          </a:p>
        </p:txBody>
      </p:sp>
      <p:sp>
        <p:nvSpPr>
          <p:cNvPr id="3" name="Footer Placeholder 2">
            <a:extLst>
              <a:ext uri="{FF2B5EF4-FFF2-40B4-BE49-F238E27FC236}">
                <a16:creationId xmlns:a16="http://schemas.microsoft.com/office/drawing/2014/main" id="{AA4504AE-4F13-322E-27A4-3BB48BB359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2BFCBC-8AD1-2A42-989D-4F6C1EE63840}"/>
              </a:ext>
            </a:extLst>
          </p:cNvPr>
          <p:cNvSpPr>
            <a:spLocks noGrp="1"/>
          </p:cNvSpPr>
          <p:nvPr>
            <p:ph type="sldNum" sz="quarter" idx="12"/>
          </p:nvPr>
        </p:nvSpPr>
        <p:spPr/>
        <p:txBody>
          <a:bodyPr/>
          <a:lstStyle/>
          <a:p>
            <a:fld id="{05C38E62-EDA3-5B45-9AE2-1548453E25D3}" type="slidenum">
              <a:rPr lang="en-US" smtClean="0"/>
              <a:t>‹#›</a:t>
            </a:fld>
            <a:endParaRPr lang="en-US"/>
          </a:p>
        </p:txBody>
      </p:sp>
    </p:spTree>
    <p:extLst>
      <p:ext uri="{BB962C8B-B14F-4D97-AF65-F5344CB8AC3E}">
        <p14:creationId xmlns:p14="http://schemas.microsoft.com/office/powerpoint/2010/main" val="1457391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8CE6B-6EC1-F338-F502-3CC60625375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90DCFF3-CFE7-A085-4C41-B4FC68C901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28C4DBF-2F71-1541-FD7F-1C56A7ACDE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F75E627-C0F7-4615-75E8-2DFD9B6CDBB9}"/>
              </a:ext>
            </a:extLst>
          </p:cNvPr>
          <p:cNvSpPr>
            <a:spLocks noGrp="1"/>
          </p:cNvSpPr>
          <p:nvPr>
            <p:ph type="dt" sz="half" idx="10"/>
          </p:nvPr>
        </p:nvSpPr>
        <p:spPr/>
        <p:txBody>
          <a:bodyPr/>
          <a:lstStyle/>
          <a:p>
            <a:fld id="{341C9FD4-8EB3-6941-B909-A7D3AC5F8BD7}" type="datetimeFigureOut">
              <a:rPr lang="en-US" smtClean="0"/>
              <a:t>9/3/26</a:t>
            </a:fld>
            <a:endParaRPr lang="en-US"/>
          </a:p>
        </p:txBody>
      </p:sp>
      <p:sp>
        <p:nvSpPr>
          <p:cNvPr id="6" name="Footer Placeholder 5">
            <a:extLst>
              <a:ext uri="{FF2B5EF4-FFF2-40B4-BE49-F238E27FC236}">
                <a16:creationId xmlns:a16="http://schemas.microsoft.com/office/drawing/2014/main" id="{5233AFC8-0DC3-6286-E3F1-DFC9FB8427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02F7E9-5289-158F-6FF7-5157F397DD60}"/>
              </a:ext>
            </a:extLst>
          </p:cNvPr>
          <p:cNvSpPr>
            <a:spLocks noGrp="1"/>
          </p:cNvSpPr>
          <p:nvPr>
            <p:ph type="sldNum" sz="quarter" idx="12"/>
          </p:nvPr>
        </p:nvSpPr>
        <p:spPr/>
        <p:txBody>
          <a:bodyPr/>
          <a:lstStyle/>
          <a:p>
            <a:fld id="{05C38E62-EDA3-5B45-9AE2-1548453E25D3}" type="slidenum">
              <a:rPr lang="en-US" smtClean="0"/>
              <a:t>‹#›</a:t>
            </a:fld>
            <a:endParaRPr lang="en-US"/>
          </a:p>
        </p:txBody>
      </p:sp>
    </p:spTree>
    <p:extLst>
      <p:ext uri="{BB962C8B-B14F-4D97-AF65-F5344CB8AC3E}">
        <p14:creationId xmlns:p14="http://schemas.microsoft.com/office/powerpoint/2010/main" val="2952349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1B11A-2DE2-CE28-2EC3-1DA6DAD2704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1DC8EB5-2057-B8BD-0C8B-1AFBAE576E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320E7F-4F55-49F1-A288-4A5F115CA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61862C7-A8B1-33B8-F4A9-C859D260B593}"/>
              </a:ext>
            </a:extLst>
          </p:cNvPr>
          <p:cNvSpPr>
            <a:spLocks noGrp="1"/>
          </p:cNvSpPr>
          <p:nvPr>
            <p:ph type="dt" sz="half" idx="10"/>
          </p:nvPr>
        </p:nvSpPr>
        <p:spPr/>
        <p:txBody>
          <a:bodyPr/>
          <a:lstStyle/>
          <a:p>
            <a:fld id="{341C9FD4-8EB3-6941-B909-A7D3AC5F8BD7}" type="datetimeFigureOut">
              <a:rPr lang="en-US" smtClean="0"/>
              <a:t>9/3/26</a:t>
            </a:fld>
            <a:endParaRPr lang="en-US"/>
          </a:p>
        </p:txBody>
      </p:sp>
      <p:sp>
        <p:nvSpPr>
          <p:cNvPr id="6" name="Footer Placeholder 5">
            <a:extLst>
              <a:ext uri="{FF2B5EF4-FFF2-40B4-BE49-F238E27FC236}">
                <a16:creationId xmlns:a16="http://schemas.microsoft.com/office/drawing/2014/main" id="{6EDB5CFE-D408-FE7A-E102-68B46A4166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E488B8-D5C1-67CA-9182-BD85CEC7C6FA}"/>
              </a:ext>
            </a:extLst>
          </p:cNvPr>
          <p:cNvSpPr>
            <a:spLocks noGrp="1"/>
          </p:cNvSpPr>
          <p:nvPr>
            <p:ph type="sldNum" sz="quarter" idx="12"/>
          </p:nvPr>
        </p:nvSpPr>
        <p:spPr/>
        <p:txBody>
          <a:bodyPr/>
          <a:lstStyle/>
          <a:p>
            <a:fld id="{05C38E62-EDA3-5B45-9AE2-1548453E25D3}" type="slidenum">
              <a:rPr lang="en-US" smtClean="0"/>
              <a:t>‹#›</a:t>
            </a:fld>
            <a:endParaRPr lang="en-US"/>
          </a:p>
        </p:txBody>
      </p:sp>
    </p:spTree>
    <p:extLst>
      <p:ext uri="{BB962C8B-B14F-4D97-AF65-F5344CB8AC3E}">
        <p14:creationId xmlns:p14="http://schemas.microsoft.com/office/powerpoint/2010/main" val="17979562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6F4A7-722D-4A59-7537-6514FFC1AFA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98FBA30-A1F0-3696-3618-3C35C988E86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D2F1DB-74D4-9548-BB15-755870ADE4C2}"/>
              </a:ext>
            </a:extLst>
          </p:cNvPr>
          <p:cNvSpPr>
            <a:spLocks noGrp="1"/>
          </p:cNvSpPr>
          <p:nvPr>
            <p:ph type="dt" sz="half" idx="10"/>
          </p:nvPr>
        </p:nvSpPr>
        <p:spPr/>
        <p:txBody>
          <a:bodyPr/>
          <a:lstStyle/>
          <a:p>
            <a:fld id="{341C9FD4-8EB3-6941-B909-A7D3AC5F8BD7}" type="datetimeFigureOut">
              <a:rPr lang="en-US" smtClean="0"/>
              <a:t>9/3/26</a:t>
            </a:fld>
            <a:endParaRPr lang="en-US"/>
          </a:p>
        </p:txBody>
      </p:sp>
      <p:sp>
        <p:nvSpPr>
          <p:cNvPr id="5" name="Footer Placeholder 4">
            <a:extLst>
              <a:ext uri="{FF2B5EF4-FFF2-40B4-BE49-F238E27FC236}">
                <a16:creationId xmlns:a16="http://schemas.microsoft.com/office/drawing/2014/main" id="{77F113AE-CB8D-4CA7-1BBB-E267327BE9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54B750-0D88-FA0E-2B2F-FC70BC84A093}"/>
              </a:ext>
            </a:extLst>
          </p:cNvPr>
          <p:cNvSpPr>
            <a:spLocks noGrp="1"/>
          </p:cNvSpPr>
          <p:nvPr>
            <p:ph type="sldNum" sz="quarter" idx="12"/>
          </p:nvPr>
        </p:nvSpPr>
        <p:spPr/>
        <p:txBody>
          <a:bodyPr/>
          <a:lstStyle/>
          <a:p>
            <a:fld id="{05C38E62-EDA3-5B45-9AE2-1548453E25D3}" type="slidenum">
              <a:rPr lang="en-US" smtClean="0"/>
              <a:t>‹#›</a:t>
            </a:fld>
            <a:endParaRPr lang="en-US"/>
          </a:p>
        </p:txBody>
      </p:sp>
    </p:spTree>
    <p:extLst>
      <p:ext uri="{BB962C8B-B14F-4D97-AF65-F5344CB8AC3E}">
        <p14:creationId xmlns:p14="http://schemas.microsoft.com/office/powerpoint/2010/main" val="2370653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3DB16D-7EE5-033A-D54C-CDBC3281215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A7189D6-27FA-C0E9-23E2-46A2FCE7300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CF1E1DD-F297-561F-0364-A71478D0CAB1}"/>
              </a:ext>
            </a:extLst>
          </p:cNvPr>
          <p:cNvSpPr>
            <a:spLocks noGrp="1"/>
          </p:cNvSpPr>
          <p:nvPr>
            <p:ph type="dt" sz="half" idx="10"/>
          </p:nvPr>
        </p:nvSpPr>
        <p:spPr/>
        <p:txBody>
          <a:bodyPr/>
          <a:lstStyle/>
          <a:p>
            <a:fld id="{341C9FD4-8EB3-6941-B909-A7D3AC5F8BD7}" type="datetimeFigureOut">
              <a:rPr lang="en-US" smtClean="0"/>
              <a:t>9/3/26</a:t>
            </a:fld>
            <a:endParaRPr lang="en-US"/>
          </a:p>
        </p:txBody>
      </p:sp>
      <p:sp>
        <p:nvSpPr>
          <p:cNvPr id="5" name="Footer Placeholder 4">
            <a:extLst>
              <a:ext uri="{FF2B5EF4-FFF2-40B4-BE49-F238E27FC236}">
                <a16:creationId xmlns:a16="http://schemas.microsoft.com/office/drawing/2014/main" id="{688856A1-5DCE-836F-0C51-30999D2D63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CA0DD3-A345-F3BB-BE8A-D92E0FEF4928}"/>
              </a:ext>
            </a:extLst>
          </p:cNvPr>
          <p:cNvSpPr>
            <a:spLocks noGrp="1"/>
          </p:cNvSpPr>
          <p:nvPr>
            <p:ph type="sldNum" sz="quarter" idx="12"/>
          </p:nvPr>
        </p:nvSpPr>
        <p:spPr/>
        <p:txBody>
          <a:bodyPr/>
          <a:lstStyle/>
          <a:p>
            <a:fld id="{05C38E62-EDA3-5B45-9AE2-1548453E25D3}" type="slidenum">
              <a:rPr lang="en-US" smtClean="0"/>
              <a:t>‹#›</a:t>
            </a:fld>
            <a:endParaRPr lang="en-US"/>
          </a:p>
        </p:txBody>
      </p:sp>
    </p:spTree>
    <p:extLst>
      <p:ext uri="{BB962C8B-B14F-4D97-AF65-F5344CB8AC3E}">
        <p14:creationId xmlns:p14="http://schemas.microsoft.com/office/powerpoint/2010/main" val="1922722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C235CA-AF05-5224-C6FB-B3711709E5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3086A27-33BF-A8FF-ABA8-549313546E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ECECFD-74A6-73D3-795D-B9FDC23927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1C9FD4-8EB3-6941-B909-A7D3AC5F8BD7}" type="datetimeFigureOut">
              <a:rPr lang="en-US" smtClean="0"/>
              <a:t>9/3/26</a:t>
            </a:fld>
            <a:endParaRPr lang="en-US"/>
          </a:p>
        </p:txBody>
      </p:sp>
      <p:sp>
        <p:nvSpPr>
          <p:cNvPr id="5" name="Footer Placeholder 4">
            <a:extLst>
              <a:ext uri="{FF2B5EF4-FFF2-40B4-BE49-F238E27FC236}">
                <a16:creationId xmlns:a16="http://schemas.microsoft.com/office/drawing/2014/main" id="{D8085F0F-56E6-B902-E89F-D30E8D19AE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9667C1B-2F84-9226-6C7F-6F924FB827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C38E62-EDA3-5B45-9AE2-1548453E25D3}" type="slidenum">
              <a:rPr lang="en-US" smtClean="0"/>
              <a:t>‹#›</a:t>
            </a:fld>
            <a:endParaRPr lang="en-US"/>
          </a:p>
        </p:txBody>
      </p:sp>
    </p:spTree>
    <p:extLst>
      <p:ext uri="{BB962C8B-B14F-4D97-AF65-F5344CB8AC3E}">
        <p14:creationId xmlns:p14="http://schemas.microsoft.com/office/powerpoint/2010/main" val="11445438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hyperlink" Target="https://github.com/AzasangeT/LEARNER-SUPPORT-PORTA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C4CED6-0F23-9A4F-6FB2-98C57564ECAB}"/>
              </a:ext>
            </a:extLst>
          </p:cNvPr>
          <p:cNvSpPr>
            <a:spLocks noGrp="1"/>
          </p:cNvSpPr>
          <p:nvPr>
            <p:ph type="ctrTitle"/>
          </p:nvPr>
        </p:nvSpPr>
        <p:spPr>
          <a:xfrm>
            <a:off x="804672" y="802955"/>
            <a:ext cx="4766330" cy="1454051"/>
          </a:xfrm>
        </p:spPr>
        <p:txBody>
          <a:bodyPr vert="horz" lIns="91440" tIns="45720" rIns="91440" bIns="45720" rtlCol="0" anchor="ctr">
            <a:normAutofit/>
          </a:bodyPr>
          <a:lstStyle/>
          <a:p>
            <a:pPr algn="l"/>
            <a:r>
              <a:rPr lang="en-US" sz="3600" kern="1200">
                <a:solidFill>
                  <a:schemeClr val="tx2"/>
                </a:solidFill>
                <a:latin typeface="+mj-lt"/>
                <a:ea typeface="+mj-ea"/>
                <a:cs typeface="+mj-cs"/>
              </a:rPr>
              <a:t>Summative Project </a:t>
            </a:r>
            <a:br>
              <a:rPr lang="en-US" sz="3600" kern="1200">
                <a:solidFill>
                  <a:schemeClr val="tx2"/>
                </a:solidFill>
                <a:latin typeface="+mj-lt"/>
                <a:ea typeface="+mj-ea"/>
                <a:cs typeface="+mj-cs"/>
              </a:rPr>
            </a:br>
            <a:r>
              <a:rPr lang="en-US" sz="3600" kern="1200">
                <a:solidFill>
                  <a:schemeClr val="tx2"/>
                </a:solidFill>
                <a:latin typeface="+mj-lt"/>
                <a:ea typeface="+mj-ea"/>
                <a:cs typeface="+mj-cs"/>
              </a:rPr>
              <a:t>JavaScript Programmer </a:t>
            </a:r>
          </a:p>
        </p:txBody>
      </p:sp>
      <p:sp>
        <p:nvSpPr>
          <p:cNvPr id="3" name="Subtitle 2">
            <a:extLst>
              <a:ext uri="{FF2B5EF4-FFF2-40B4-BE49-F238E27FC236}">
                <a16:creationId xmlns:a16="http://schemas.microsoft.com/office/drawing/2014/main" id="{99C5983B-5D74-0F51-CD10-5819838572F8}"/>
              </a:ext>
            </a:extLst>
          </p:cNvPr>
          <p:cNvSpPr>
            <a:spLocks noGrp="1"/>
          </p:cNvSpPr>
          <p:nvPr>
            <p:ph type="subTitle" idx="1"/>
          </p:nvPr>
        </p:nvSpPr>
        <p:spPr>
          <a:xfrm>
            <a:off x="804672" y="2421683"/>
            <a:ext cx="4765949" cy="3353476"/>
          </a:xfrm>
        </p:spPr>
        <p:txBody>
          <a:bodyPr vert="horz" lIns="91440" tIns="45720" rIns="91440" bIns="45720" rtlCol="0" anchor="t">
            <a:normAutofit/>
          </a:bodyPr>
          <a:lstStyle/>
          <a:p>
            <a:pPr indent="-228600" algn="l">
              <a:buFont typeface="Arial" panose="020B0604020202020204" pitchFamily="34" charset="0"/>
              <a:buChar char="•"/>
            </a:pPr>
            <a:r>
              <a:rPr lang="en-US" sz="1800" dirty="0">
                <a:solidFill>
                  <a:schemeClr val="tx2"/>
                </a:solidFill>
              </a:rPr>
              <a:t>Month 1 Formative Questions</a:t>
            </a:r>
          </a:p>
          <a:p>
            <a:pPr indent="-228600" algn="l">
              <a:buFont typeface="Arial" panose="020B0604020202020204" pitchFamily="34" charset="0"/>
              <a:buChar char="•"/>
            </a:pPr>
            <a:r>
              <a:rPr lang="en-US" sz="1800" dirty="0">
                <a:solidFill>
                  <a:schemeClr val="tx2"/>
                </a:solidFill>
              </a:rPr>
              <a:t>Team Name : </a:t>
            </a:r>
            <a:r>
              <a:rPr lang="en-US" sz="1800" dirty="0" err="1">
                <a:solidFill>
                  <a:schemeClr val="tx2"/>
                </a:solidFill>
              </a:rPr>
              <a:t>NextGen_Devs</a:t>
            </a:r>
            <a:r>
              <a:rPr lang="en-US" sz="1800" dirty="0">
                <a:solidFill>
                  <a:schemeClr val="tx2"/>
                </a:solidFill>
              </a:rPr>
              <a:t> </a:t>
            </a:r>
          </a:p>
          <a:p>
            <a:pPr indent="-228600" algn="l">
              <a:buFont typeface="Arial" panose="020B0604020202020204" pitchFamily="34" charset="0"/>
              <a:buChar char="•"/>
            </a:pPr>
            <a:r>
              <a:rPr lang="en-US" sz="1800" dirty="0">
                <a:solidFill>
                  <a:schemeClr val="tx2"/>
                </a:solidFill>
              </a:rPr>
              <a:t>Group Members:</a:t>
            </a:r>
          </a:p>
          <a:p>
            <a:pPr indent="-228600" algn="l">
              <a:buFont typeface="Arial" panose="020B0604020202020204" pitchFamily="34" charset="0"/>
              <a:buChar char="•"/>
            </a:pPr>
            <a:r>
              <a:rPr lang="en-US" sz="1800" dirty="0">
                <a:solidFill>
                  <a:schemeClr val="tx2"/>
                </a:solidFill>
              </a:rPr>
              <a:t> Azasange Tshaka </a:t>
            </a:r>
          </a:p>
          <a:p>
            <a:pPr indent="-228600" algn="l">
              <a:buFont typeface="Arial" panose="020B0604020202020204" pitchFamily="34" charset="0"/>
              <a:buChar char="•"/>
            </a:pPr>
            <a:r>
              <a:rPr lang="en-US" sz="1800" dirty="0">
                <a:solidFill>
                  <a:schemeClr val="tx2"/>
                </a:solidFill>
              </a:rPr>
              <a:t>Kenneth Gurure </a:t>
            </a:r>
          </a:p>
          <a:p>
            <a:pPr indent="-228600" algn="l">
              <a:buFont typeface="Arial" panose="020B0604020202020204" pitchFamily="34" charset="0"/>
              <a:buChar char="•"/>
            </a:pPr>
            <a:r>
              <a:rPr lang="en-US" sz="1800" dirty="0">
                <a:solidFill>
                  <a:schemeClr val="tx2"/>
                </a:solidFill>
              </a:rPr>
              <a:t>Micheal </a:t>
            </a:r>
            <a:r>
              <a:rPr lang="en-US" sz="1800" dirty="0" err="1">
                <a:solidFill>
                  <a:schemeClr val="tx2"/>
                </a:solidFill>
              </a:rPr>
              <a:t>Motlana</a:t>
            </a:r>
            <a:r>
              <a:rPr lang="en-US" sz="1800" dirty="0">
                <a:solidFill>
                  <a:schemeClr val="tx2"/>
                </a:solidFill>
              </a:rPr>
              <a:t> </a:t>
            </a:r>
          </a:p>
          <a:p>
            <a:pPr indent="-228600" algn="l">
              <a:buFont typeface="Arial" panose="020B0604020202020204" pitchFamily="34" charset="0"/>
              <a:buChar char="•"/>
            </a:pPr>
            <a:r>
              <a:rPr lang="en-US" sz="1800" dirty="0" err="1">
                <a:solidFill>
                  <a:schemeClr val="tx2"/>
                </a:solidFill>
              </a:rPr>
              <a:t>Github</a:t>
            </a:r>
            <a:r>
              <a:rPr lang="en-US" sz="1800" dirty="0">
                <a:solidFill>
                  <a:schemeClr val="tx2"/>
                </a:solidFill>
              </a:rPr>
              <a:t> repo link:</a:t>
            </a:r>
          </a:p>
          <a:p>
            <a:pPr algn="l"/>
            <a:r>
              <a:rPr lang="en-US" sz="1800" dirty="0">
                <a:solidFill>
                  <a:schemeClr val="tx2"/>
                </a:solidFill>
                <a:hlinkClick r:id="rId2"/>
              </a:rPr>
              <a:t>https://github.com/AzasangeT/LEARNER-SUPPORT-PORTAL</a:t>
            </a:r>
            <a:r>
              <a:rPr lang="en-US" sz="1800" dirty="0">
                <a:solidFill>
                  <a:schemeClr val="tx2"/>
                </a:solidFill>
              </a:rPr>
              <a:t> </a:t>
            </a: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Computer">
            <a:extLst>
              <a:ext uri="{FF2B5EF4-FFF2-40B4-BE49-F238E27FC236}">
                <a16:creationId xmlns:a16="http://schemas.microsoft.com/office/drawing/2014/main" id="{EFB5B5B7-72E0-815D-28BC-4628C4AEB9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08392" y="1819656"/>
            <a:ext cx="4142232" cy="4142232"/>
          </a:xfrm>
          <a:prstGeom prst="rect">
            <a:avLst/>
          </a:prstGeom>
        </p:spPr>
      </p:pic>
    </p:spTree>
    <p:extLst>
      <p:ext uri="{BB962C8B-B14F-4D97-AF65-F5344CB8AC3E}">
        <p14:creationId xmlns:p14="http://schemas.microsoft.com/office/powerpoint/2010/main" val="3905518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1729215-E062-2AE6-CB72-6636D5D3D8ED}"/>
              </a:ext>
            </a:extLst>
          </p:cNvPr>
          <p:cNvSpPr>
            <a:spLocks noGrp="1"/>
          </p:cNvSpPr>
          <p:nvPr>
            <p:ph idx="1"/>
          </p:nvPr>
        </p:nvSpPr>
        <p:spPr>
          <a:xfrm>
            <a:off x="207390" y="98659"/>
            <a:ext cx="5574860" cy="6759341"/>
          </a:xfrm>
        </p:spPr>
        <p:txBody>
          <a:bodyPr anchor="ctr">
            <a:noAutofit/>
          </a:bodyPr>
          <a:lstStyle/>
          <a:p>
            <a:pPr marL="0" indent="0">
              <a:buNone/>
            </a:pPr>
            <a:r>
              <a:rPr lang="en-US" sz="1050" dirty="0">
                <a:solidFill>
                  <a:schemeClr val="tx2"/>
                </a:solidFill>
              </a:rPr>
              <a:t>5.4  Month 1 Formative Questions (92 Marks )</a:t>
            </a:r>
          </a:p>
          <a:p>
            <a:pPr>
              <a:buAutoNum type="arabicPeriod"/>
            </a:pPr>
            <a:r>
              <a:rPr lang="en-US" sz="1050" dirty="0">
                <a:solidFill>
                  <a:schemeClr val="tx2"/>
                </a:solidFill>
              </a:rPr>
              <a:t>Explain why the programming  life cycle should be followed before coding begins                                   (2 marks)</a:t>
            </a:r>
          </a:p>
          <a:p>
            <a:pPr marL="0" indent="0">
              <a:buNone/>
            </a:pPr>
            <a:r>
              <a:rPr lang="en-US" sz="1050" dirty="0">
                <a:solidFill>
                  <a:schemeClr val="tx2"/>
                </a:solidFill>
              </a:rPr>
              <a:t>The programming life cycle provides a structured approach to software development. It helps us understand  the problem, plan the solution, and identify requirements and</a:t>
            </a:r>
          </a:p>
          <a:p>
            <a:pPr marL="0" indent="0">
              <a:buNone/>
            </a:pPr>
            <a:r>
              <a:rPr lang="en-US" sz="1050" dirty="0">
                <a:solidFill>
                  <a:schemeClr val="tx2"/>
                </a:solidFill>
              </a:rPr>
              <a:t>reduce mistakes before wrong code. Following the programming life cycle leads to software or code that is easier to test , maintain and improve.</a:t>
            </a:r>
          </a:p>
          <a:p>
            <a:pPr marL="0" indent="0">
              <a:buNone/>
            </a:pPr>
            <a:endParaRPr lang="en-US" sz="1050" dirty="0">
              <a:solidFill>
                <a:schemeClr val="tx2"/>
              </a:solidFill>
            </a:endParaRPr>
          </a:p>
          <a:p>
            <a:pPr>
              <a:buAutoNum type="arabicPeriod"/>
            </a:pPr>
            <a:endParaRPr lang="en-US" sz="1050" dirty="0">
              <a:solidFill>
                <a:schemeClr val="tx2"/>
              </a:solidFill>
            </a:endParaRPr>
          </a:p>
          <a:p>
            <a:pPr>
              <a:buAutoNum type="arabicPeriod" startAt="2"/>
            </a:pPr>
            <a:r>
              <a:rPr lang="en-US" sz="1050" dirty="0">
                <a:solidFill>
                  <a:schemeClr val="tx2"/>
                </a:solidFill>
              </a:rPr>
              <a:t>List and explain explain the main steps of programming life cycle . Your answer must show how each step contributes to the development of a working solution              (15 marks)</a:t>
            </a:r>
          </a:p>
          <a:p>
            <a:pPr marL="0" indent="0">
              <a:buNone/>
            </a:pPr>
            <a:r>
              <a:rPr lang="en-US" sz="1050" dirty="0">
                <a:solidFill>
                  <a:schemeClr val="tx2"/>
                </a:solidFill>
              </a:rPr>
              <a:t>     - Analysis :  Gather information about the clients</a:t>
            </a:r>
          </a:p>
          <a:p>
            <a:pPr marL="0" indent="0">
              <a:buNone/>
            </a:pPr>
            <a:r>
              <a:rPr lang="en-US" sz="1050" dirty="0">
                <a:solidFill>
                  <a:schemeClr val="tx2"/>
                </a:solidFill>
              </a:rPr>
              <a:t>                             needs, identify the problem, determine</a:t>
            </a:r>
          </a:p>
          <a:p>
            <a:pPr marL="0" indent="0">
              <a:buNone/>
            </a:pPr>
            <a:r>
              <a:rPr lang="en-US" sz="1050" dirty="0">
                <a:solidFill>
                  <a:schemeClr val="tx2"/>
                </a:solidFill>
              </a:rPr>
              <a:t>                             user requirements and define the project scope.</a:t>
            </a:r>
          </a:p>
          <a:p>
            <a:pPr marL="0" indent="0">
              <a:buNone/>
            </a:pPr>
            <a:r>
              <a:rPr lang="en-US" sz="1050" dirty="0">
                <a:solidFill>
                  <a:schemeClr val="tx2"/>
                </a:solidFill>
              </a:rPr>
              <a:t>          -Design: This is where a solution is planned using.</a:t>
            </a:r>
          </a:p>
          <a:p>
            <a:pPr marL="0" indent="0">
              <a:buNone/>
            </a:pPr>
            <a:r>
              <a:rPr lang="en-US" sz="1050" dirty="0">
                <a:solidFill>
                  <a:schemeClr val="tx2"/>
                </a:solidFill>
              </a:rPr>
              <a:t>                              flowcharts, pseudocode, database structures,</a:t>
            </a:r>
          </a:p>
          <a:p>
            <a:pPr marL="0" indent="0">
              <a:buNone/>
            </a:pPr>
            <a:r>
              <a:rPr lang="en-US" sz="1050" dirty="0">
                <a:solidFill>
                  <a:schemeClr val="tx2"/>
                </a:solidFill>
              </a:rPr>
              <a:t>                              user interface designs and system architecture/flow</a:t>
            </a:r>
          </a:p>
          <a:p>
            <a:pPr marL="0" indent="0">
              <a:buNone/>
            </a:pPr>
            <a:endParaRPr lang="en-US" sz="1050" dirty="0">
              <a:solidFill>
                <a:schemeClr val="tx2"/>
              </a:solidFill>
            </a:endParaRPr>
          </a:p>
          <a:p>
            <a:pPr marL="0" indent="0">
              <a:buNone/>
            </a:pPr>
            <a:r>
              <a:rPr lang="en-US" sz="1050" dirty="0">
                <a:solidFill>
                  <a:schemeClr val="tx2"/>
                </a:solidFill>
              </a:rPr>
              <a:t>              Coding: This is where a developer writes the </a:t>
            </a:r>
          </a:p>
          <a:p>
            <a:pPr marL="0" indent="0">
              <a:buNone/>
            </a:pPr>
            <a:r>
              <a:rPr lang="en-US" sz="1050" dirty="0">
                <a:solidFill>
                  <a:schemeClr val="tx2"/>
                </a:solidFill>
              </a:rPr>
              <a:t>                                program using JavaScript, HTML, CSS and</a:t>
            </a:r>
          </a:p>
          <a:p>
            <a:pPr marL="0" indent="0">
              <a:buNone/>
            </a:pPr>
            <a:r>
              <a:rPr lang="en-US" sz="1050" dirty="0">
                <a:solidFill>
                  <a:schemeClr val="tx2"/>
                </a:solidFill>
              </a:rPr>
              <a:t>                                 other  technologies.</a:t>
            </a:r>
          </a:p>
          <a:p>
            <a:pPr marL="0" indent="0">
              <a:buNone/>
            </a:pPr>
            <a:r>
              <a:rPr lang="en-US" sz="1050" dirty="0">
                <a:solidFill>
                  <a:schemeClr val="tx2"/>
                </a:solidFill>
              </a:rPr>
              <a:t>         - Testing: This is where the  application is tested</a:t>
            </a:r>
          </a:p>
          <a:p>
            <a:pPr marL="0" indent="0">
              <a:buNone/>
            </a:pPr>
            <a:r>
              <a:rPr lang="en-US" sz="1050" dirty="0">
                <a:solidFill>
                  <a:schemeClr val="tx2"/>
                </a:solidFill>
              </a:rPr>
              <a:t>                              to identify possible bugs, logical errors,</a:t>
            </a:r>
          </a:p>
          <a:p>
            <a:pPr marL="0" indent="0">
              <a:buNone/>
            </a:pPr>
            <a:r>
              <a:rPr lang="en-US" sz="1050" dirty="0">
                <a:solidFill>
                  <a:schemeClr val="tx2"/>
                </a:solidFill>
              </a:rPr>
              <a:t>                               and usability issues. This is where any</a:t>
            </a:r>
          </a:p>
          <a:p>
            <a:pPr marL="0" indent="0">
              <a:buNone/>
            </a:pPr>
            <a:r>
              <a:rPr lang="en-US" sz="1050" dirty="0">
                <a:solidFill>
                  <a:schemeClr val="tx2"/>
                </a:solidFill>
              </a:rPr>
              <a:t>                              problems found are corrected.</a:t>
            </a:r>
          </a:p>
          <a:p>
            <a:pPr marL="0" indent="0">
              <a:buNone/>
            </a:pPr>
            <a:r>
              <a:rPr lang="en-US" sz="1050" dirty="0">
                <a:solidFill>
                  <a:schemeClr val="tx2"/>
                </a:solidFill>
              </a:rPr>
              <a:t>- Implementation: T his is  where the completed</a:t>
            </a:r>
          </a:p>
          <a:p>
            <a:pPr marL="0" indent="0">
              <a:buNone/>
            </a:pPr>
            <a:r>
              <a:rPr lang="en-US" sz="1050" dirty="0">
                <a:solidFill>
                  <a:schemeClr val="tx2"/>
                </a:solidFill>
              </a:rPr>
              <a:t>                                        application is released for users to process and use.</a:t>
            </a: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Flowchart">
            <a:extLst>
              <a:ext uri="{FF2B5EF4-FFF2-40B4-BE49-F238E27FC236}">
                <a16:creationId xmlns:a16="http://schemas.microsoft.com/office/drawing/2014/main" id="{55C03187-5C66-E490-FF51-716227C7A49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4026975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ug under Magnifying Glass">
            <a:extLst>
              <a:ext uri="{FF2B5EF4-FFF2-40B4-BE49-F238E27FC236}">
                <a16:creationId xmlns:a16="http://schemas.microsoft.com/office/drawing/2014/main" id="{34B5E29B-3272-0145-7A38-F317E4D449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21729215-E062-2AE6-CB72-6636D5D3D8ED}"/>
              </a:ext>
            </a:extLst>
          </p:cNvPr>
          <p:cNvSpPr>
            <a:spLocks noGrp="1"/>
          </p:cNvSpPr>
          <p:nvPr>
            <p:ph idx="1"/>
          </p:nvPr>
        </p:nvSpPr>
        <p:spPr>
          <a:xfrm>
            <a:off x="6090573" y="484742"/>
            <a:ext cx="5653407" cy="5576229"/>
          </a:xfrm>
        </p:spPr>
        <p:txBody>
          <a:bodyPr anchor="ctr">
            <a:noAutofit/>
          </a:bodyPr>
          <a:lstStyle/>
          <a:p>
            <a:pPr marL="0" indent="0">
              <a:buNone/>
            </a:pPr>
            <a:r>
              <a:rPr lang="en-US" sz="1000" dirty="0">
                <a:solidFill>
                  <a:schemeClr val="tx2"/>
                </a:solidFill>
              </a:rPr>
              <a:t> Revier and Improvements: The application is evaluated after deployment. </a:t>
            </a:r>
          </a:p>
          <a:p>
            <a:pPr marL="0" indent="0">
              <a:buNone/>
            </a:pPr>
            <a:r>
              <a:rPr lang="en-US" sz="1000" dirty="0">
                <a:solidFill>
                  <a:schemeClr val="tx2"/>
                </a:solidFill>
              </a:rPr>
              <a:t>                                                         Bugs are fixed, improvements are made,</a:t>
            </a:r>
          </a:p>
          <a:p>
            <a:pPr marL="0" indent="0">
              <a:buNone/>
            </a:pPr>
            <a:r>
              <a:rPr lang="en-US" sz="1000" dirty="0">
                <a:solidFill>
                  <a:schemeClr val="tx2"/>
                </a:solidFill>
              </a:rPr>
              <a:t>                                                          and new features may  be added</a:t>
            </a:r>
          </a:p>
          <a:p>
            <a:pPr marL="0" indent="0">
              <a:buNone/>
            </a:pPr>
            <a:r>
              <a:rPr lang="en-US" sz="1000" dirty="0">
                <a:solidFill>
                  <a:schemeClr val="tx2"/>
                </a:solidFill>
              </a:rPr>
              <a:t>                                                          based on the  feedback collected from users </a:t>
            </a:r>
          </a:p>
          <a:p>
            <a:pPr marL="0" indent="0">
              <a:buNone/>
            </a:pPr>
            <a:endParaRPr lang="en-US" sz="1000" dirty="0">
              <a:solidFill>
                <a:schemeClr val="tx2"/>
              </a:solidFill>
            </a:endParaRPr>
          </a:p>
          <a:p>
            <a:pPr marL="0" indent="0">
              <a:buNone/>
            </a:pPr>
            <a:r>
              <a:rPr lang="en-US" sz="1000" dirty="0">
                <a:solidFill>
                  <a:schemeClr val="tx2"/>
                </a:solidFill>
              </a:rPr>
              <a:t>3 </a:t>
            </a:r>
            <a:r>
              <a:rPr lang="en-US" sz="1000" b="1" dirty="0">
                <a:solidFill>
                  <a:schemeClr val="tx2"/>
                </a:solidFill>
              </a:rPr>
              <a:t>Explain when const should be used instead of let . Also explain why var should normally be avoided in modern JavaScript                             (5 marks)</a:t>
            </a:r>
          </a:p>
          <a:p>
            <a:pPr marL="0" indent="0">
              <a:buNone/>
            </a:pPr>
            <a:r>
              <a:rPr lang="en-US" sz="1000" dirty="0">
                <a:solidFill>
                  <a:schemeClr val="tx2"/>
                </a:solidFill>
              </a:rPr>
              <a:t>Const should be used when a variable will not be reassigned after it is declared...</a:t>
            </a:r>
          </a:p>
          <a:p>
            <a:pPr marL="0" indent="0">
              <a:buNone/>
            </a:pPr>
            <a:r>
              <a:rPr lang="en-US" sz="1000" dirty="0">
                <a:solidFill>
                  <a:schemeClr val="tx2"/>
                </a:solidFill>
              </a:rPr>
              <a:t>Let should be used when the value the value of a variable needs to change later  </a:t>
            </a:r>
          </a:p>
          <a:p>
            <a:pPr marL="0" indent="0">
              <a:buNone/>
            </a:pPr>
            <a:r>
              <a:rPr lang="en-US" sz="1000" dirty="0">
                <a:solidFill>
                  <a:schemeClr val="tx2"/>
                </a:solidFill>
              </a:rPr>
              <a:t>VAR should be avoided because it has function scope instead of black scope, can be redeclared and is hosted </a:t>
            </a:r>
          </a:p>
          <a:p>
            <a:pPr marL="0" indent="0">
              <a:buNone/>
            </a:pPr>
            <a:r>
              <a:rPr lang="en-US" sz="1000" dirty="0">
                <a:solidFill>
                  <a:schemeClr val="tx2"/>
                </a:solidFill>
              </a:rPr>
              <a:t>which can cause unexpected behavior and make code harder to maintain </a:t>
            </a:r>
          </a:p>
          <a:p>
            <a:pPr marL="0" indent="0">
              <a:buNone/>
            </a:pPr>
            <a:endParaRPr lang="en-US" sz="1000" dirty="0">
              <a:solidFill>
                <a:schemeClr val="tx2"/>
              </a:solidFill>
            </a:endParaRPr>
          </a:p>
          <a:p>
            <a:pPr marL="0" indent="0">
              <a:buNone/>
            </a:pPr>
            <a:r>
              <a:rPr lang="en-US" sz="1000" b="1" dirty="0">
                <a:solidFill>
                  <a:schemeClr val="tx2"/>
                </a:solidFill>
              </a:rPr>
              <a:t>4. Explain  why an  application should use classes or structed objects instead of storing related information in several related variables                (5 marks)</a:t>
            </a:r>
          </a:p>
          <a:p>
            <a:pPr marL="0" indent="0">
              <a:buNone/>
            </a:pPr>
            <a:r>
              <a:rPr lang="en-US" sz="1000" dirty="0">
                <a:solidFill>
                  <a:schemeClr val="tx2"/>
                </a:solidFill>
              </a:rPr>
              <a:t>Global variables can be accessed and changed from anywhere  in the  program, increasing the  risk</a:t>
            </a:r>
          </a:p>
          <a:p>
            <a:pPr marL="0" indent="0">
              <a:buNone/>
            </a:pPr>
            <a:r>
              <a:rPr lang="en-US" sz="1000" dirty="0">
                <a:solidFill>
                  <a:schemeClr val="tx2"/>
                </a:solidFill>
              </a:rPr>
              <a:t> of accidental modifications and bugs. While local variables exist only within the functional  or block</a:t>
            </a:r>
          </a:p>
          <a:p>
            <a:pPr marL="0" indent="0">
              <a:buNone/>
            </a:pPr>
            <a:r>
              <a:rPr lang="en-US" sz="1000" dirty="0">
                <a:solidFill>
                  <a:schemeClr val="tx2"/>
                </a:solidFill>
              </a:rPr>
              <a:t> where they are declared making the code  more secure, easier to understand and  easier to maintain</a:t>
            </a:r>
          </a:p>
          <a:p>
            <a:pPr marL="0" indent="0">
              <a:buNone/>
            </a:pPr>
            <a:endParaRPr lang="en-US" sz="1000" dirty="0">
              <a:solidFill>
                <a:schemeClr val="tx2"/>
              </a:solidFill>
            </a:endParaRPr>
          </a:p>
          <a:p>
            <a:pPr marL="0" indent="0">
              <a:buNone/>
            </a:pPr>
            <a:r>
              <a:rPr lang="en-US" sz="1000" dirty="0">
                <a:solidFill>
                  <a:schemeClr val="tx2"/>
                </a:solidFill>
              </a:rPr>
              <a:t>5</a:t>
            </a:r>
            <a:r>
              <a:rPr lang="en-US" sz="1000" b="1" dirty="0">
                <a:solidFill>
                  <a:schemeClr val="tx2"/>
                </a:solidFill>
              </a:rPr>
              <a:t>. Explain how map(), filter() and reduce() process and array of task objects differently. Provide one suitable use for each method                                  (5 marks)</a:t>
            </a:r>
          </a:p>
          <a:p>
            <a:pPr marL="0" indent="0">
              <a:buNone/>
            </a:pPr>
            <a:r>
              <a:rPr lang="en-US" sz="1000" dirty="0">
                <a:solidFill>
                  <a:schemeClr val="tx2"/>
                </a:solidFill>
              </a:rPr>
              <a:t>map() - creates a new array by transforming very element.</a:t>
            </a:r>
          </a:p>
          <a:p>
            <a:pPr marL="0" indent="0">
              <a:buNone/>
            </a:pPr>
            <a:r>
              <a:rPr lang="en-US" sz="1000" dirty="0">
                <a:solidFill>
                  <a:schemeClr val="tx2"/>
                </a:solidFill>
              </a:rPr>
              <a:t>Example: Display only the title of all tasks</a:t>
            </a:r>
          </a:p>
          <a:p>
            <a:pPr marL="0" indent="0">
              <a:buNone/>
            </a:pPr>
            <a:r>
              <a:rPr lang="en-US" sz="1000" dirty="0" err="1">
                <a:solidFill>
                  <a:schemeClr val="tx2"/>
                </a:solidFill>
              </a:rPr>
              <a:t>task.map</a:t>
            </a:r>
            <a:r>
              <a:rPr lang="en-US" sz="1000" dirty="0">
                <a:solidFill>
                  <a:schemeClr val="tx2"/>
                </a:solidFill>
              </a:rPr>
              <a:t> (task=&gt; </a:t>
            </a:r>
            <a:r>
              <a:rPr lang="en-US" sz="1000" dirty="0" err="1">
                <a:solidFill>
                  <a:schemeClr val="tx2"/>
                </a:solidFill>
              </a:rPr>
              <a:t>task.title</a:t>
            </a:r>
            <a:r>
              <a:rPr lang="en-US" sz="1000" dirty="0">
                <a:solidFill>
                  <a:schemeClr val="tx2"/>
                </a:solidFill>
              </a:rPr>
              <a:t>)</a:t>
            </a:r>
          </a:p>
          <a:p>
            <a:pPr marL="0" indent="0">
              <a:buNone/>
            </a:pPr>
            <a:endParaRPr lang="en-US" sz="10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042438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8865B52-665B-5F6D-76A0-D98169769E8C}"/>
              </a:ext>
            </a:extLst>
          </p:cNvPr>
          <p:cNvSpPr>
            <a:spLocks noGrp="1"/>
          </p:cNvSpPr>
          <p:nvPr>
            <p:ph idx="1"/>
          </p:nvPr>
        </p:nvSpPr>
        <p:spPr>
          <a:xfrm>
            <a:off x="804672" y="745958"/>
            <a:ext cx="4765949" cy="6112042"/>
          </a:xfrm>
        </p:spPr>
        <p:txBody>
          <a:bodyPr anchor="t">
            <a:normAutofit/>
          </a:bodyPr>
          <a:lstStyle/>
          <a:p>
            <a:pPr marL="0" indent="0">
              <a:buNone/>
            </a:pPr>
            <a:r>
              <a:rPr lang="en-US" sz="1000" dirty="0">
                <a:solidFill>
                  <a:schemeClr val="tx2"/>
                </a:solidFill>
              </a:rPr>
              <a:t>Filer() - creates a new array containing only elements </a:t>
            </a:r>
          </a:p>
          <a:p>
            <a:pPr marL="0" indent="0">
              <a:buNone/>
            </a:pPr>
            <a:r>
              <a:rPr lang="en-US" sz="1000" dirty="0">
                <a:solidFill>
                  <a:schemeClr val="tx2"/>
                </a:solidFill>
              </a:rPr>
              <a:t>                that meets a condition</a:t>
            </a:r>
          </a:p>
          <a:p>
            <a:pPr marL="0" indent="0">
              <a:buNone/>
            </a:pPr>
            <a:r>
              <a:rPr lang="en-US" sz="1000" dirty="0">
                <a:solidFill>
                  <a:schemeClr val="tx2"/>
                </a:solidFill>
              </a:rPr>
              <a:t> Example: Display only completed  tasks</a:t>
            </a:r>
          </a:p>
          <a:p>
            <a:pPr marL="0" indent="0">
              <a:buNone/>
            </a:pPr>
            <a:r>
              <a:rPr lang="en-US" sz="1000" dirty="0">
                <a:solidFill>
                  <a:schemeClr val="tx2"/>
                </a:solidFill>
              </a:rPr>
              <a:t>tasks. filter (took = took. completed)</a:t>
            </a:r>
          </a:p>
          <a:p>
            <a:pPr marL="0" indent="0">
              <a:buNone/>
            </a:pPr>
            <a:r>
              <a:rPr lang="en-US" sz="1000" dirty="0">
                <a:solidFill>
                  <a:schemeClr val="tx2"/>
                </a:solidFill>
              </a:rPr>
              <a:t>reduce() - processes all elements to produce</a:t>
            </a:r>
          </a:p>
          <a:p>
            <a:pPr marL="0" indent="0">
              <a:buNone/>
            </a:pPr>
            <a:r>
              <a:rPr lang="en-US" sz="1000" dirty="0">
                <a:solidFill>
                  <a:schemeClr val="tx2"/>
                </a:solidFill>
              </a:rPr>
              <a:t>                     a single value </a:t>
            </a:r>
          </a:p>
          <a:p>
            <a:pPr marL="0" indent="0">
              <a:buNone/>
            </a:pPr>
            <a:r>
              <a:rPr lang="en-US" sz="1000" dirty="0">
                <a:solidFill>
                  <a:schemeClr val="tx2"/>
                </a:solidFill>
              </a:rPr>
              <a:t>Example: Calculate the total hours of all tasks </a:t>
            </a:r>
          </a:p>
          <a:p>
            <a:pPr marL="0" indent="0">
              <a:buNone/>
            </a:pPr>
            <a:r>
              <a:rPr lang="en-US" sz="1000" dirty="0">
                <a:solidFill>
                  <a:schemeClr val="tx2"/>
                </a:solidFill>
              </a:rPr>
              <a:t>                     </a:t>
            </a:r>
            <a:r>
              <a:rPr lang="en-US" sz="1000" dirty="0" err="1">
                <a:solidFill>
                  <a:schemeClr val="tx2"/>
                </a:solidFill>
              </a:rPr>
              <a:t>tasks.reduce</a:t>
            </a:r>
            <a:r>
              <a:rPr lang="en-US" sz="1000" dirty="0">
                <a:solidFill>
                  <a:schemeClr val="tx2"/>
                </a:solidFill>
              </a:rPr>
              <a:t>((total , task) =&gt; total + task, hours, 0)</a:t>
            </a:r>
          </a:p>
          <a:p>
            <a:pPr marL="0" indent="0">
              <a:buNone/>
            </a:pPr>
            <a:r>
              <a:rPr lang="en-US" sz="1000" b="1" dirty="0">
                <a:solidFill>
                  <a:schemeClr val="tx2"/>
                </a:solidFill>
              </a:rPr>
              <a:t>6 Explain what an application should use classes or structured objects instead of storing related information in several unrelated variables.           (5 marks) </a:t>
            </a:r>
          </a:p>
          <a:p>
            <a:pPr marL="0" indent="0">
              <a:buNone/>
            </a:pPr>
            <a:r>
              <a:rPr lang="en-US" sz="1000" dirty="0">
                <a:solidFill>
                  <a:schemeClr val="tx2"/>
                </a:solidFill>
              </a:rPr>
              <a:t>Classes and structured objects keep related information together, making the application easier to organize, understand, and maintain. They reduce duplicate code, improve readability, and  also allow developers to reuse methods. They also make it easier to create multiple objects multiple objects with the same structure </a:t>
            </a:r>
          </a:p>
          <a:p>
            <a:pPr marL="0" indent="0">
              <a:buNone/>
            </a:pPr>
            <a:endParaRPr lang="en-US" sz="1000" dirty="0">
              <a:solidFill>
                <a:schemeClr val="tx2"/>
              </a:solidFill>
            </a:endParaRPr>
          </a:p>
          <a:p>
            <a:pPr marL="0" indent="0">
              <a:buNone/>
            </a:pPr>
            <a:r>
              <a:rPr lang="en-US" sz="1000" b="1" dirty="0">
                <a:solidFill>
                  <a:schemeClr val="tx2"/>
                </a:solidFill>
              </a:rPr>
              <a:t>7 Explain how branches, pull request and automated checks reduce risk when developers collaborate on a project                                   (5 marks)</a:t>
            </a:r>
          </a:p>
          <a:p>
            <a:pPr marL="0" indent="0">
              <a:buNone/>
            </a:pPr>
            <a:r>
              <a:rPr lang="en-US" sz="1000" dirty="0">
                <a:solidFill>
                  <a:schemeClr val="tx2"/>
                </a:solidFill>
              </a:rPr>
              <a:t>Branches allow developers to work on new features without affecting the main branch project. Pull requests provide an opportunity for team members to review code before it is merged, this helps  identify errors and improving quality. Automated checks such as  linting of testing  verify code meets standards and does not introduce new problems  before It is merged into the main branch.</a:t>
            </a:r>
          </a:p>
          <a:p>
            <a:pPr marL="0" indent="0">
              <a:buNone/>
            </a:pPr>
            <a:r>
              <a:rPr lang="en-US" sz="1000" dirty="0">
                <a:solidFill>
                  <a:schemeClr val="tx2"/>
                </a:solidFill>
              </a:rPr>
              <a:t>8a) ) - </a:t>
            </a:r>
            <a:r>
              <a:rPr lang="en-US" sz="1000" dirty="0" err="1">
                <a:solidFill>
                  <a:schemeClr val="tx2"/>
                </a:solidFill>
              </a:rPr>
              <a:t>userName</a:t>
            </a:r>
            <a:r>
              <a:rPr lang="en-US" sz="1000" dirty="0">
                <a:solidFill>
                  <a:schemeClr val="tx2"/>
                </a:solidFill>
              </a:rPr>
              <a:t> → String</a:t>
            </a:r>
          </a:p>
          <a:p>
            <a:pPr marL="0" indent="0">
              <a:buNone/>
            </a:pPr>
            <a:r>
              <a:rPr lang="en-US" sz="1000" dirty="0">
                <a:solidFill>
                  <a:schemeClr val="tx2"/>
                </a:solidFill>
              </a:rPr>
              <a:t>         - age → Number</a:t>
            </a:r>
          </a:p>
          <a:p>
            <a:pPr marL="0" indent="0">
              <a:buNone/>
            </a:pPr>
            <a:r>
              <a:rPr lang="en-US" sz="1000" dirty="0">
                <a:solidFill>
                  <a:schemeClr val="tx2"/>
                </a:solidFill>
              </a:rPr>
              <a:t>        - </a:t>
            </a:r>
            <a:r>
              <a:rPr lang="en-US" sz="1000" dirty="0" err="1">
                <a:solidFill>
                  <a:schemeClr val="tx2"/>
                </a:solidFill>
              </a:rPr>
              <a:t>IsActive</a:t>
            </a:r>
            <a:r>
              <a:rPr lang="en-US" sz="1000" dirty="0">
                <a:solidFill>
                  <a:schemeClr val="tx2"/>
                </a:solidFill>
              </a:rPr>
              <a:t> → Boolean</a:t>
            </a:r>
          </a:p>
          <a:p>
            <a:pPr marL="0" indent="0">
              <a:buNone/>
            </a:pPr>
            <a:r>
              <a:rPr lang="en-US" sz="1000" dirty="0">
                <a:solidFill>
                  <a:schemeClr val="tx2"/>
                </a:solidFill>
              </a:rPr>
              <a:t>       - </a:t>
            </a:r>
            <a:r>
              <a:rPr lang="en-US" sz="1000" dirty="0" err="1">
                <a:solidFill>
                  <a:schemeClr val="tx2"/>
                </a:solidFill>
              </a:rPr>
              <a:t>selectedProject</a:t>
            </a:r>
            <a:r>
              <a:rPr lang="en-US" sz="1000" dirty="0">
                <a:solidFill>
                  <a:schemeClr val="tx2"/>
                </a:solidFill>
              </a:rPr>
              <a:t> → </a:t>
            </a:r>
            <a:r>
              <a:rPr lang="en-US" sz="1000" dirty="0" err="1">
                <a:solidFill>
                  <a:schemeClr val="tx2"/>
                </a:solidFill>
              </a:rPr>
              <a:t>NuIl</a:t>
            </a:r>
            <a:endParaRPr lang="en-US" sz="1000" dirty="0">
              <a:solidFill>
                <a:schemeClr val="tx2"/>
              </a:solidFill>
            </a:endParaRPr>
          </a:p>
        </p:txBody>
      </p:sp>
      <p:grpSp>
        <p:nvGrpSpPr>
          <p:cNvPr id="26" name="Group 25">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27" name="Freeform: Shape 26">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Open Folder">
            <a:extLst>
              <a:ext uri="{FF2B5EF4-FFF2-40B4-BE49-F238E27FC236}">
                <a16:creationId xmlns:a16="http://schemas.microsoft.com/office/drawing/2014/main" id="{4B9EC24B-7783-F706-5B43-7E992E2FE7D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08392" y="1819656"/>
            <a:ext cx="4142232" cy="4142232"/>
          </a:xfrm>
          <a:prstGeom prst="rect">
            <a:avLst/>
          </a:prstGeom>
        </p:spPr>
      </p:pic>
    </p:spTree>
    <p:extLst>
      <p:ext uri="{BB962C8B-B14F-4D97-AF65-F5344CB8AC3E}">
        <p14:creationId xmlns:p14="http://schemas.microsoft.com/office/powerpoint/2010/main" val="3286104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71305892-A710-4E42-CC42-55FD77E92FD1}"/>
              </a:ext>
            </a:extLst>
          </p:cNvPr>
          <p:cNvSpPr>
            <a:spLocks noGrp="1"/>
          </p:cNvSpPr>
          <p:nvPr>
            <p:ph idx="1"/>
          </p:nvPr>
        </p:nvSpPr>
        <p:spPr>
          <a:xfrm>
            <a:off x="6172200" y="804672"/>
            <a:ext cx="5221224" cy="5230368"/>
          </a:xfrm>
        </p:spPr>
        <p:txBody>
          <a:bodyPr anchor="ctr">
            <a:normAutofit/>
          </a:bodyPr>
          <a:lstStyle/>
          <a:p>
            <a:pPr marL="0" indent="0">
              <a:buNone/>
            </a:pPr>
            <a:r>
              <a:rPr lang="en-US" sz="1000" dirty="0">
                <a:solidFill>
                  <a:schemeClr val="tx2"/>
                </a:solidFill>
              </a:rPr>
              <a:t>b) const </a:t>
            </a:r>
            <a:r>
              <a:rPr lang="en-US" sz="1000" dirty="0" err="1">
                <a:solidFill>
                  <a:schemeClr val="tx2"/>
                </a:solidFill>
              </a:rPr>
              <a:t>ageSting</a:t>
            </a:r>
            <a:r>
              <a:rPr lang="en-US" sz="1000" dirty="0">
                <a:solidFill>
                  <a:schemeClr val="tx2"/>
                </a:solidFill>
              </a:rPr>
              <a:t> = String(age);</a:t>
            </a:r>
          </a:p>
          <a:p>
            <a:pPr marL="0" indent="0">
              <a:buNone/>
            </a:pPr>
            <a:r>
              <a:rPr lang="en-US" sz="1000" dirty="0">
                <a:solidFill>
                  <a:schemeClr val="tx2"/>
                </a:solidFill>
              </a:rPr>
              <a:t>c) The type  of operator is used to determine the</a:t>
            </a:r>
          </a:p>
          <a:p>
            <a:pPr marL="0" indent="0">
              <a:buNone/>
            </a:pPr>
            <a:r>
              <a:rPr lang="en-US" sz="1000" dirty="0">
                <a:solidFill>
                  <a:schemeClr val="tx2"/>
                </a:solidFill>
              </a:rPr>
              <a:t>date type of a variable o r value during program</a:t>
            </a:r>
          </a:p>
          <a:p>
            <a:pPr marL="0" indent="0">
              <a:buNone/>
            </a:pPr>
            <a:r>
              <a:rPr lang="en-US" sz="1000" dirty="0">
                <a:solidFill>
                  <a:schemeClr val="tx2"/>
                </a:solidFill>
              </a:rPr>
              <a:t>execution.</a:t>
            </a:r>
          </a:p>
          <a:p>
            <a:pPr marL="0" marR="0">
              <a:buNone/>
            </a:pPr>
            <a:r>
              <a:rPr lang="en-US" sz="1000" dirty="0">
                <a:solidFill>
                  <a:schemeClr val="tx2"/>
                </a:solidFill>
              </a:rPr>
              <a:t>9 </a:t>
            </a:r>
            <a:r>
              <a:rPr lang="en-ZA" sz="1000" dirty="0">
                <a:solidFill>
                  <a:schemeClr val="tx2"/>
                </a:solidFill>
                <a:effectLst/>
                <a:latin typeface="Helvetica" pitchFamily="2" charset="0"/>
              </a:rPr>
              <a:t>Analyse the following code:</a:t>
            </a:r>
          </a:p>
          <a:p>
            <a:pPr marL="0" marR="0">
              <a:buNone/>
            </a:pPr>
            <a:r>
              <a:rPr lang="en-ZA" sz="1000" dirty="0" err="1">
                <a:solidFill>
                  <a:schemeClr val="tx2"/>
                </a:solidFill>
                <a:effectLst/>
                <a:latin typeface="Helvetica" pitchFamily="2" charset="0"/>
              </a:rPr>
              <a:t>const</a:t>
            </a:r>
            <a:r>
              <a:rPr lang="en-ZA" sz="1000" dirty="0">
                <a:solidFill>
                  <a:schemeClr val="tx2"/>
                </a:solidFill>
                <a:effectLst/>
                <a:latin typeface="Helvetica" pitchFamily="2" charset="0"/>
              </a:rPr>
              <a:t> total = "10" + 5;</a:t>
            </a:r>
          </a:p>
          <a:p>
            <a:pPr marL="0" marR="0">
              <a:buNone/>
            </a:pPr>
            <a:r>
              <a:rPr lang="en-ZA" sz="1000" dirty="0" err="1">
                <a:solidFill>
                  <a:schemeClr val="tx2"/>
                </a:solidFill>
                <a:effectLst/>
                <a:latin typeface="Helvetica" pitchFamily="2" charset="0"/>
              </a:rPr>
              <a:t>const</a:t>
            </a:r>
            <a:r>
              <a:rPr lang="en-ZA" sz="1000" dirty="0">
                <a:solidFill>
                  <a:schemeClr val="tx2"/>
                </a:solidFill>
                <a:effectLst/>
                <a:latin typeface="Helvetica" pitchFamily="2" charset="0"/>
              </a:rPr>
              <a:t> </a:t>
            </a:r>
            <a:r>
              <a:rPr lang="en-ZA" sz="1000" dirty="0" err="1">
                <a:solidFill>
                  <a:schemeClr val="tx2"/>
                </a:solidFill>
                <a:effectLst/>
                <a:latin typeface="Helvetica" pitchFamily="2" charset="0"/>
              </a:rPr>
              <a:t>looseComparison</a:t>
            </a:r>
            <a:r>
              <a:rPr lang="en-ZA" sz="1000" dirty="0">
                <a:solidFill>
                  <a:schemeClr val="tx2"/>
                </a:solidFill>
                <a:effectLst/>
                <a:latin typeface="Helvetica" pitchFamily="2" charset="0"/>
              </a:rPr>
              <a:t> = 5 == "5";</a:t>
            </a:r>
          </a:p>
          <a:p>
            <a:pPr marL="0" marR="0">
              <a:buNone/>
            </a:pPr>
            <a:r>
              <a:rPr lang="en-ZA" sz="1000" dirty="0" err="1">
                <a:solidFill>
                  <a:schemeClr val="tx2"/>
                </a:solidFill>
                <a:effectLst/>
                <a:latin typeface="Helvetica" pitchFamily="2" charset="0"/>
              </a:rPr>
              <a:t>const</a:t>
            </a:r>
            <a:r>
              <a:rPr lang="en-ZA" sz="1000" dirty="0">
                <a:solidFill>
                  <a:schemeClr val="tx2"/>
                </a:solidFill>
                <a:effectLst/>
                <a:latin typeface="Helvetica" pitchFamily="2" charset="0"/>
              </a:rPr>
              <a:t> </a:t>
            </a:r>
            <a:r>
              <a:rPr lang="en-ZA" sz="1000" dirty="0" err="1">
                <a:solidFill>
                  <a:schemeClr val="tx2"/>
                </a:solidFill>
                <a:effectLst/>
                <a:latin typeface="Helvetica" pitchFamily="2" charset="0"/>
              </a:rPr>
              <a:t>strictComparison</a:t>
            </a:r>
            <a:r>
              <a:rPr lang="en-ZA" sz="1000" dirty="0">
                <a:solidFill>
                  <a:schemeClr val="tx2"/>
                </a:solidFill>
                <a:effectLst/>
                <a:latin typeface="Helvetica" pitchFamily="2" charset="0"/>
              </a:rPr>
              <a:t> = 5 === "5";</a:t>
            </a:r>
          </a:p>
          <a:p>
            <a:pPr marL="0" marR="0">
              <a:buNone/>
            </a:pPr>
            <a:r>
              <a:rPr lang="en-ZA" sz="1000" dirty="0" err="1">
                <a:solidFill>
                  <a:schemeClr val="tx2"/>
                </a:solidFill>
                <a:effectLst/>
                <a:latin typeface="Helvetica" pitchFamily="2" charset="0"/>
              </a:rPr>
              <a:t>console.log</a:t>
            </a:r>
            <a:r>
              <a:rPr lang="en-ZA" sz="1000" dirty="0">
                <a:solidFill>
                  <a:schemeClr val="tx2"/>
                </a:solidFill>
                <a:effectLst/>
                <a:latin typeface="Helvetica" pitchFamily="2" charset="0"/>
              </a:rPr>
              <a:t>(total);</a:t>
            </a:r>
          </a:p>
          <a:p>
            <a:pPr marL="0" marR="0">
              <a:buNone/>
            </a:pPr>
            <a:r>
              <a:rPr lang="en-ZA" sz="1000" dirty="0" err="1">
                <a:solidFill>
                  <a:schemeClr val="tx2"/>
                </a:solidFill>
                <a:effectLst/>
                <a:latin typeface="Helvetica" pitchFamily="2" charset="0"/>
              </a:rPr>
              <a:t>console.log</a:t>
            </a:r>
            <a:r>
              <a:rPr lang="en-ZA" sz="1000" dirty="0">
                <a:solidFill>
                  <a:schemeClr val="tx2"/>
                </a:solidFill>
                <a:effectLst/>
                <a:latin typeface="Helvetica" pitchFamily="2" charset="0"/>
              </a:rPr>
              <a:t>(</a:t>
            </a:r>
            <a:r>
              <a:rPr lang="en-ZA" sz="1000" dirty="0" err="1">
                <a:solidFill>
                  <a:schemeClr val="tx2"/>
                </a:solidFill>
                <a:effectLst/>
                <a:latin typeface="Helvetica" pitchFamily="2" charset="0"/>
              </a:rPr>
              <a:t>looseComparison</a:t>
            </a:r>
            <a:r>
              <a:rPr lang="en-ZA" sz="1000" dirty="0">
                <a:solidFill>
                  <a:schemeClr val="tx2"/>
                </a:solidFill>
                <a:effectLst/>
                <a:latin typeface="Helvetica" pitchFamily="2" charset="0"/>
              </a:rPr>
              <a:t>); </a:t>
            </a:r>
            <a:r>
              <a:rPr lang="en-ZA" sz="1000" dirty="0" err="1">
                <a:solidFill>
                  <a:schemeClr val="tx2"/>
                </a:solidFill>
                <a:effectLst/>
                <a:latin typeface="Helvetica" pitchFamily="2" charset="0"/>
              </a:rPr>
              <a:t>console.log</a:t>
            </a:r>
            <a:r>
              <a:rPr lang="en-ZA" sz="1000" dirty="0">
                <a:solidFill>
                  <a:schemeClr val="tx2"/>
                </a:solidFill>
                <a:effectLst/>
                <a:latin typeface="Helvetica" pitchFamily="2" charset="0"/>
              </a:rPr>
              <a:t>(</a:t>
            </a:r>
            <a:r>
              <a:rPr lang="en-ZA" sz="1000" dirty="0" err="1">
                <a:solidFill>
                  <a:schemeClr val="tx2"/>
                </a:solidFill>
                <a:effectLst/>
                <a:latin typeface="Helvetica" pitchFamily="2" charset="0"/>
              </a:rPr>
              <a:t>strictComparison</a:t>
            </a:r>
            <a:r>
              <a:rPr lang="en-ZA" sz="1000" dirty="0">
                <a:solidFill>
                  <a:schemeClr val="tx2"/>
                </a:solidFill>
                <a:effectLst/>
                <a:latin typeface="Helvetica" pitchFamily="2" charset="0"/>
              </a:rPr>
              <a:t>);           </a:t>
            </a:r>
            <a:endParaRPr lang="en-US" sz="1000" dirty="0">
              <a:solidFill>
                <a:schemeClr val="tx2"/>
              </a:solidFill>
            </a:endParaRPr>
          </a:p>
          <a:p>
            <a:pPr marL="0" indent="0">
              <a:buNone/>
            </a:pPr>
            <a:r>
              <a:rPr lang="en-US" sz="1000" b="1" dirty="0">
                <a:solidFill>
                  <a:schemeClr val="tx2"/>
                </a:solidFill>
              </a:rPr>
              <a:t>9a) State the output of each </a:t>
            </a:r>
            <a:r>
              <a:rPr lang="en-US" sz="1000" b="1" dirty="0" err="1">
                <a:solidFill>
                  <a:schemeClr val="tx2"/>
                </a:solidFill>
              </a:rPr>
              <a:t>console.log</a:t>
            </a:r>
            <a:r>
              <a:rPr lang="en-US" sz="1000" b="1" dirty="0">
                <a:solidFill>
                  <a:schemeClr val="tx2"/>
                </a:solidFill>
              </a:rPr>
              <a:t> () statement                    (3 marks)</a:t>
            </a:r>
          </a:p>
          <a:p>
            <a:pPr marL="0" indent="0">
              <a:buNone/>
            </a:pPr>
            <a:r>
              <a:rPr lang="en-US" sz="1000" dirty="0">
                <a:solidFill>
                  <a:schemeClr val="tx2"/>
                </a:solidFill>
              </a:rPr>
              <a:t>105</a:t>
            </a:r>
          </a:p>
          <a:p>
            <a:pPr marL="0" indent="0">
              <a:buNone/>
            </a:pPr>
            <a:r>
              <a:rPr lang="en-US" sz="1000" dirty="0">
                <a:solidFill>
                  <a:schemeClr val="tx2"/>
                </a:solidFill>
              </a:rPr>
              <a:t>       t r u e</a:t>
            </a:r>
          </a:p>
          <a:p>
            <a:pPr marL="0" indent="0">
              <a:buNone/>
            </a:pPr>
            <a:r>
              <a:rPr lang="en-US" sz="1000" dirty="0">
                <a:solidFill>
                  <a:schemeClr val="tx2"/>
                </a:solidFill>
              </a:rPr>
              <a:t>      false</a:t>
            </a:r>
          </a:p>
          <a:p>
            <a:pPr marL="0" indent="0">
              <a:buNone/>
            </a:pPr>
            <a:r>
              <a:rPr lang="en-US" sz="1000" dirty="0">
                <a:solidFill>
                  <a:schemeClr val="tx2"/>
                </a:solidFill>
              </a:rPr>
              <a:t>9b)</a:t>
            </a:r>
            <a:r>
              <a:rPr lang="en-US" sz="1000" b="1" dirty="0">
                <a:solidFill>
                  <a:schemeClr val="tx2"/>
                </a:solidFill>
              </a:rPr>
              <a:t>Explain why “10” +5 does not produce the number 15.        (2 marks)    </a:t>
            </a:r>
          </a:p>
          <a:p>
            <a:pPr marL="0" indent="0">
              <a:buNone/>
            </a:pPr>
            <a:r>
              <a:rPr lang="en-US" sz="1000" dirty="0">
                <a:solidFill>
                  <a:schemeClr val="tx2"/>
                </a:solidFill>
              </a:rPr>
              <a:t> b) Because  one is a string so JavaScript performs string concatenation instead o f numeric addition there resulting answer being  105 instead of the number  15</a:t>
            </a:r>
          </a:p>
          <a:p>
            <a:pPr marL="0" indent="0">
              <a:buNone/>
            </a:pPr>
            <a:r>
              <a:rPr lang="en-US" sz="1000" dirty="0">
                <a:solidFill>
                  <a:schemeClr val="tx2"/>
                </a:solidFill>
              </a:rPr>
              <a:t>c) = = (loose equality) it compares two values</a:t>
            </a:r>
          </a:p>
          <a:p>
            <a:pPr marL="0" indent="0">
              <a:buNone/>
            </a:pPr>
            <a:r>
              <a:rPr lang="en-US" sz="1000" dirty="0">
                <a:solidFill>
                  <a:schemeClr val="tx2"/>
                </a:solidFill>
              </a:rPr>
              <a:t>after converting them t o a common type (type </a:t>
            </a:r>
            <a:r>
              <a:rPr lang="en-US" sz="1000" dirty="0" err="1">
                <a:solidFill>
                  <a:schemeClr val="tx2"/>
                </a:solidFill>
              </a:rPr>
              <a:t>coercian</a:t>
            </a:r>
            <a:r>
              <a:rPr lang="en-US" sz="1000" dirty="0">
                <a:solidFill>
                  <a:schemeClr val="tx2"/>
                </a:solidFill>
              </a:rPr>
              <a:t>)</a:t>
            </a:r>
          </a:p>
          <a:p>
            <a:pPr marL="0" indent="0">
              <a:buNone/>
            </a:pPr>
            <a:r>
              <a:rPr lang="en-US" sz="1000" dirty="0">
                <a:solidFill>
                  <a:schemeClr val="tx2"/>
                </a:solidFill>
              </a:rPr>
              <a:t>= = = (Strict equality compare </a:t>
            </a:r>
            <a:r>
              <a:rPr lang="en-US" sz="1000" dirty="0" err="1">
                <a:solidFill>
                  <a:schemeClr val="tx2"/>
                </a:solidFill>
              </a:rPr>
              <a:t>bth</a:t>
            </a:r>
            <a:r>
              <a:rPr lang="en-US" sz="1000" dirty="0">
                <a:solidFill>
                  <a:schemeClr val="tx2"/>
                </a:solidFill>
              </a:rPr>
              <a:t> type and data type without  conversation</a:t>
            </a:r>
          </a:p>
          <a:p>
            <a:pPr marL="0" indent="0">
              <a:buNone/>
            </a:pPr>
            <a:endParaRPr lang="en-US" sz="1000" dirty="0">
              <a:solidFill>
                <a:schemeClr val="tx2"/>
              </a:solidFill>
            </a:endParaRPr>
          </a:p>
        </p:txBody>
      </p:sp>
    </p:spTree>
    <p:extLst>
      <p:ext uri="{BB962C8B-B14F-4D97-AF65-F5344CB8AC3E}">
        <p14:creationId xmlns:p14="http://schemas.microsoft.com/office/powerpoint/2010/main" val="1110936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E2AB9BFF-D903-7092-C855-E6066379FC03}"/>
              </a:ext>
            </a:extLst>
          </p:cNvPr>
          <p:cNvSpPr>
            <a:spLocks noGrp="1"/>
          </p:cNvSpPr>
          <p:nvPr>
            <p:ph idx="1"/>
          </p:nvPr>
        </p:nvSpPr>
        <p:spPr>
          <a:xfrm>
            <a:off x="6172200" y="159657"/>
            <a:ext cx="5221224" cy="6698341"/>
          </a:xfrm>
        </p:spPr>
        <p:txBody>
          <a:bodyPr anchor="ctr">
            <a:normAutofit/>
          </a:bodyPr>
          <a:lstStyle/>
          <a:p>
            <a:pPr marL="0" indent="0">
              <a:buNone/>
            </a:pPr>
            <a:r>
              <a:rPr lang="en-US" sz="900" dirty="0">
                <a:solidFill>
                  <a:schemeClr val="tx2"/>
                </a:solidFill>
              </a:rPr>
              <a:t>d) </a:t>
            </a:r>
            <a:r>
              <a:rPr lang="en-US" sz="900" b="1" dirty="0">
                <a:solidFill>
                  <a:schemeClr val="tx2"/>
                </a:solidFill>
              </a:rPr>
              <a:t>Rewrite the first statements so that so that it produces the number 15.                                                                       (1 mark)           </a:t>
            </a:r>
            <a:r>
              <a:rPr lang="en-US" sz="900" dirty="0">
                <a:solidFill>
                  <a:schemeClr val="tx2"/>
                </a:solidFill>
              </a:rPr>
              <a:t>                 </a:t>
            </a:r>
          </a:p>
          <a:p>
            <a:pPr marL="0" indent="0">
              <a:buNone/>
            </a:pPr>
            <a:r>
              <a:rPr lang="en-US" sz="900" dirty="0">
                <a:solidFill>
                  <a:schemeClr val="tx2"/>
                </a:solidFill>
              </a:rPr>
              <a:t>Const total = Number(“10”) + 5 ;</a:t>
            </a:r>
          </a:p>
          <a:p>
            <a:pPr marL="0" indent="0">
              <a:buNone/>
            </a:pPr>
            <a:endParaRPr lang="en-US" sz="900" dirty="0">
              <a:solidFill>
                <a:schemeClr val="tx2"/>
              </a:solidFill>
            </a:endParaRPr>
          </a:p>
          <a:p>
            <a:pPr marL="0" indent="0">
              <a:buNone/>
            </a:pPr>
            <a:r>
              <a:rPr lang="en-US" sz="900" dirty="0">
                <a:solidFill>
                  <a:schemeClr val="tx2"/>
                </a:solidFill>
              </a:rPr>
              <a:t>10 )</a:t>
            </a:r>
          </a:p>
          <a:p>
            <a:pPr marL="0" indent="0">
              <a:buNone/>
            </a:pPr>
            <a:endParaRPr lang="en-US" sz="900" dirty="0">
              <a:solidFill>
                <a:schemeClr val="tx2"/>
              </a:solidFill>
            </a:endParaRPr>
          </a:p>
          <a:p>
            <a:pPr marL="0" indent="0">
              <a:buNone/>
            </a:pPr>
            <a:r>
              <a:rPr lang="en-US" sz="900" b="1" dirty="0">
                <a:solidFill>
                  <a:schemeClr val="tx2"/>
                </a:solidFill>
              </a:rPr>
              <a:t>10a) Identify the parameters of </a:t>
            </a:r>
            <a:r>
              <a:rPr lang="en-US" sz="900" b="1" dirty="0" err="1">
                <a:solidFill>
                  <a:schemeClr val="tx2"/>
                </a:solidFill>
              </a:rPr>
              <a:t>calculateTotal</a:t>
            </a:r>
            <a:r>
              <a:rPr lang="en-US" sz="900" b="1" dirty="0">
                <a:solidFill>
                  <a:schemeClr val="tx2"/>
                </a:solidFill>
              </a:rPr>
              <a:t>().                                                  (2 marks)</a:t>
            </a:r>
          </a:p>
          <a:p>
            <a:pPr marL="0" indent="0">
              <a:buNone/>
            </a:pPr>
            <a:r>
              <a:rPr lang="en-US" sz="900" dirty="0">
                <a:solidFill>
                  <a:schemeClr val="tx2"/>
                </a:solidFill>
              </a:rPr>
              <a:t>a)Price and quantity </a:t>
            </a:r>
          </a:p>
          <a:p>
            <a:pPr marL="0" indent="0">
              <a:buNone/>
            </a:pPr>
            <a:r>
              <a:rPr lang="en-US" sz="900" dirty="0">
                <a:solidFill>
                  <a:schemeClr val="tx2"/>
                </a:solidFill>
              </a:rPr>
              <a:t>10b</a:t>
            </a:r>
            <a:r>
              <a:rPr lang="en-US" sz="900" b="1" dirty="0">
                <a:solidFill>
                  <a:schemeClr val="tx2"/>
                </a:solidFill>
              </a:rPr>
              <a:t>) Explain the purpose of the default  value assigned to quantity </a:t>
            </a:r>
          </a:p>
          <a:p>
            <a:pPr marL="0" indent="0">
              <a:buNone/>
            </a:pPr>
            <a:r>
              <a:rPr lang="en-US" sz="900" dirty="0">
                <a:solidFill>
                  <a:schemeClr val="tx2"/>
                </a:solidFill>
              </a:rPr>
              <a:t>b) The default value ensures that if there is no </a:t>
            </a:r>
            <a:r>
              <a:rPr lang="en-US" sz="900" dirty="0" err="1">
                <a:solidFill>
                  <a:schemeClr val="tx2"/>
                </a:solidFill>
              </a:rPr>
              <a:t>quantitty</a:t>
            </a:r>
            <a:r>
              <a:rPr lang="en-US" sz="900" dirty="0">
                <a:solidFill>
                  <a:schemeClr val="tx2"/>
                </a:solidFill>
              </a:rPr>
              <a:t> provided the JavaScript should automatically</a:t>
            </a:r>
          </a:p>
          <a:p>
            <a:pPr marL="0" indent="0">
              <a:buNone/>
            </a:pPr>
            <a:r>
              <a:rPr lang="en-US" sz="900" dirty="0">
                <a:solidFill>
                  <a:schemeClr val="tx2"/>
                </a:solidFill>
              </a:rPr>
              <a:t>Use 1 therefore preventing the function to calculate a total </a:t>
            </a:r>
          </a:p>
          <a:p>
            <a:pPr marL="0" indent="0">
              <a:buNone/>
            </a:pPr>
            <a:r>
              <a:rPr lang="en-US" sz="900" dirty="0">
                <a:solidFill>
                  <a:schemeClr val="tx2"/>
                </a:solidFill>
              </a:rPr>
              <a:t>10c)Explain what the return keyword does </a:t>
            </a:r>
          </a:p>
          <a:p>
            <a:pPr marL="0" indent="0">
              <a:buNone/>
            </a:pPr>
            <a:r>
              <a:rPr lang="en-US" sz="900" dirty="0">
                <a:solidFill>
                  <a:schemeClr val="tx2"/>
                </a:solidFill>
              </a:rPr>
              <a:t>c) The return keyword sends a value back to the police where was called and ends the </a:t>
            </a:r>
            <a:r>
              <a:rPr lang="en-US" sz="900" dirty="0" err="1">
                <a:solidFill>
                  <a:schemeClr val="tx2"/>
                </a:solidFill>
              </a:rPr>
              <a:t>fuction</a:t>
            </a:r>
            <a:r>
              <a:rPr lang="en-US" sz="900" dirty="0">
                <a:solidFill>
                  <a:schemeClr val="tx2"/>
                </a:solidFill>
              </a:rPr>
              <a:t> execution </a:t>
            </a:r>
          </a:p>
          <a:p>
            <a:pPr marL="0" indent="0">
              <a:buNone/>
            </a:pPr>
            <a:r>
              <a:rPr lang="en-US" sz="900" dirty="0">
                <a:solidFill>
                  <a:schemeClr val="tx2"/>
                </a:solidFill>
              </a:rPr>
              <a:t>10d)State the value stored in </a:t>
            </a:r>
            <a:r>
              <a:rPr lang="en-US" sz="900" dirty="0" err="1">
                <a:solidFill>
                  <a:schemeClr val="tx2"/>
                </a:solidFill>
              </a:rPr>
              <a:t>orderTotal</a:t>
            </a:r>
            <a:r>
              <a:rPr lang="en-US" sz="900" dirty="0">
                <a:solidFill>
                  <a:schemeClr val="tx2"/>
                </a:solidFill>
              </a:rPr>
              <a:t> </a:t>
            </a:r>
          </a:p>
          <a:p>
            <a:pPr marL="0" indent="0">
              <a:buNone/>
            </a:pPr>
            <a:r>
              <a:rPr lang="en-US" sz="900" dirty="0">
                <a:solidFill>
                  <a:schemeClr val="tx2"/>
                </a:solidFill>
              </a:rPr>
              <a:t>d) 450</a:t>
            </a:r>
          </a:p>
          <a:p>
            <a:pPr marL="0" indent="0">
              <a:buNone/>
            </a:pPr>
            <a:r>
              <a:rPr lang="en-US" sz="900" b="1" dirty="0">
                <a:solidFill>
                  <a:schemeClr val="tx2"/>
                </a:solidFill>
              </a:rPr>
              <a:t>10e)Explain one difference between a function declaration and arrow function </a:t>
            </a:r>
          </a:p>
          <a:p>
            <a:pPr marL="0" indent="0">
              <a:buNone/>
            </a:pPr>
            <a:r>
              <a:rPr lang="en-US" sz="900" dirty="0">
                <a:solidFill>
                  <a:schemeClr val="tx2"/>
                </a:solidFill>
              </a:rPr>
              <a:t>e) 10% of 450 = 45 </a:t>
            </a:r>
          </a:p>
          <a:p>
            <a:pPr marL="0" indent="0">
              <a:buNone/>
            </a:pPr>
            <a:r>
              <a:rPr lang="en-US" sz="900" dirty="0">
                <a:solidFill>
                  <a:schemeClr val="tx2"/>
                </a:solidFill>
              </a:rPr>
              <a:t>     450 – 45 = 405 </a:t>
            </a:r>
          </a:p>
          <a:p>
            <a:pPr marL="0" indent="0">
              <a:buNone/>
            </a:pPr>
            <a:r>
              <a:rPr lang="en-US" sz="900" dirty="0">
                <a:solidFill>
                  <a:schemeClr val="tx2"/>
                </a:solidFill>
              </a:rPr>
              <a:t>       final total = 405 </a:t>
            </a:r>
          </a:p>
          <a:p>
            <a:pPr marL="0" marR="0">
              <a:buNone/>
            </a:pPr>
            <a:r>
              <a:rPr lang="en-US" sz="900" dirty="0">
                <a:solidFill>
                  <a:schemeClr val="tx2"/>
                </a:solidFill>
              </a:rPr>
              <a:t>10f) Explain one difference between a function declaration and an arrow function (2 marks)</a:t>
            </a:r>
          </a:p>
          <a:p>
            <a:pPr marL="0" marR="0">
              <a:buNone/>
            </a:pPr>
            <a:r>
              <a:rPr lang="en-ZA" sz="900" dirty="0">
                <a:solidFill>
                  <a:schemeClr val="tx2"/>
                </a:solidFill>
                <a:effectLst/>
                <a:latin typeface="Helvetica" pitchFamily="2" charset="0"/>
              </a:rPr>
              <a:t>A function declaration you can write it </a:t>
            </a:r>
            <a:r>
              <a:rPr lang="en-ZA" sz="900" dirty="0">
                <a:solidFill>
                  <a:schemeClr val="tx2"/>
                </a:solidFill>
                <a:latin typeface="Helvetica" pitchFamily="2" charset="0"/>
              </a:rPr>
              <a:t>usi</a:t>
            </a:r>
            <a:r>
              <a:rPr lang="en-ZA" sz="900" dirty="0">
                <a:solidFill>
                  <a:schemeClr val="tx2"/>
                </a:solidFill>
                <a:effectLst/>
                <a:latin typeface="Helvetica" pitchFamily="2" charset="0"/>
              </a:rPr>
              <a:t>ng the function keyword. And an arrow function you can write it using =&gt;</a:t>
            </a:r>
          </a:p>
          <a:p>
            <a:pPr marL="0" indent="0">
              <a:buNone/>
            </a:pPr>
            <a:endParaRPr lang="en-US" sz="900" dirty="0">
              <a:solidFill>
                <a:schemeClr val="tx2"/>
              </a:solidFill>
            </a:endParaRPr>
          </a:p>
          <a:p>
            <a:pPr marL="0" indent="0">
              <a:buNone/>
            </a:pPr>
            <a:endParaRPr lang="en-US" sz="900" dirty="0">
              <a:solidFill>
                <a:schemeClr val="tx2"/>
              </a:solidFill>
            </a:endParaRPr>
          </a:p>
        </p:txBody>
      </p:sp>
    </p:spTree>
    <p:extLst>
      <p:ext uri="{BB962C8B-B14F-4D97-AF65-F5344CB8AC3E}">
        <p14:creationId xmlns:p14="http://schemas.microsoft.com/office/powerpoint/2010/main" val="4197023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Gears">
            <a:extLst>
              <a:ext uri="{FF2B5EF4-FFF2-40B4-BE49-F238E27FC236}">
                <a16:creationId xmlns:a16="http://schemas.microsoft.com/office/drawing/2014/main" id="{EC810A80-A7EC-1E3E-462F-3FEA20812F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C03E3779-3D74-651A-15A5-BA9E1144F554}"/>
              </a:ext>
            </a:extLst>
          </p:cNvPr>
          <p:cNvSpPr>
            <a:spLocks noGrp="1"/>
          </p:cNvSpPr>
          <p:nvPr>
            <p:ph idx="1"/>
          </p:nvPr>
        </p:nvSpPr>
        <p:spPr>
          <a:xfrm>
            <a:off x="6090574" y="1161142"/>
            <a:ext cx="4977578" cy="4899829"/>
          </a:xfrm>
        </p:spPr>
        <p:txBody>
          <a:bodyPr anchor="ctr">
            <a:noAutofit/>
          </a:bodyPr>
          <a:lstStyle/>
          <a:p>
            <a:r>
              <a:rPr lang="en-ZA" sz="1100" dirty="0">
                <a:solidFill>
                  <a:schemeClr val="tx2"/>
                </a:solidFill>
              </a:rPr>
              <a:t>11. Study the following array:</a:t>
            </a:r>
          </a:p>
          <a:p>
            <a:pPr marL="0" indent="0">
              <a:buNone/>
            </a:pPr>
            <a:r>
              <a:rPr lang="en-ZA" sz="1100" dirty="0" err="1">
                <a:solidFill>
                  <a:schemeClr val="tx2"/>
                </a:solidFill>
              </a:rPr>
              <a:t>const</a:t>
            </a:r>
            <a:r>
              <a:rPr lang="en-ZA" sz="1100" dirty="0">
                <a:solidFill>
                  <a:schemeClr val="tx2"/>
                </a:solidFill>
              </a:rPr>
              <a:t> tasks = [</a:t>
            </a:r>
          </a:p>
          <a:p>
            <a:pPr marL="0" indent="0">
              <a:buNone/>
            </a:pPr>
            <a:r>
              <a:rPr lang="en-ZA" sz="1100" dirty="0">
                <a:solidFill>
                  <a:schemeClr val="tx2"/>
                </a:solidFill>
              </a:rPr>
              <a:t>{ title: "Create wireframes", completed: true, hours: 3}, </a:t>
            </a:r>
          </a:p>
          <a:p>
            <a:pPr marL="0" indent="0">
              <a:buNone/>
            </a:pPr>
            <a:r>
              <a:rPr lang="en-ZA" sz="1100" dirty="0">
                <a:solidFill>
                  <a:schemeClr val="tx2"/>
                </a:solidFill>
              </a:rPr>
              <a:t>{ title: "Develop login form", completed: false, hours: 5}, </a:t>
            </a:r>
          </a:p>
          <a:p>
            <a:pPr marL="0" indent="0">
              <a:buNone/>
            </a:pPr>
            <a:r>
              <a:rPr lang="en-ZA" sz="1100" dirty="0">
                <a:solidFill>
                  <a:schemeClr val="tx2"/>
                </a:solidFill>
              </a:rPr>
              <a:t>{ title: "Test application", completed: true, hours: 2},</a:t>
            </a:r>
          </a:p>
          <a:p>
            <a:pPr marL="0" indent="0">
              <a:buNone/>
            </a:pPr>
            <a:r>
              <a:rPr lang="en-ZA" sz="1100" dirty="0">
                <a:solidFill>
                  <a:schemeClr val="tx2"/>
                </a:solidFill>
              </a:rPr>
              <a:t> { title: "Write documentation", completed: false, hours: 4}];</a:t>
            </a:r>
          </a:p>
          <a:p>
            <a:pPr marL="0" indent="0">
              <a:buNone/>
            </a:pPr>
            <a:r>
              <a:rPr lang="en-ZA" sz="1100" dirty="0">
                <a:solidFill>
                  <a:schemeClr val="tx2"/>
                </a:solidFill>
              </a:rPr>
              <a:t>};</a:t>
            </a:r>
          </a:p>
          <a:p>
            <a:pPr marL="0" indent="0">
              <a:buNone/>
            </a:pPr>
            <a:endParaRPr lang="en-ZA" sz="1100" dirty="0">
              <a:solidFill>
                <a:schemeClr val="tx2"/>
              </a:solidFill>
            </a:endParaRPr>
          </a:p>
          <a:p>
            <a:pPr marL="0" indent="0">
              <a:buNone/>
            </a:pPr>
            <a:r>
              <a:rPr lang="en-ZA" sz="1100" dirty="0">
                <a:solidFill>
                  <a:schemeClr val="tx2"/>
                </a:solidFill>
              </a:rPr>
              <a:t>11a) Write JavaScript code that:</a:t>
            </a:r>
          </a:p>
          <a:p>
            <a:pPr marL="0" indent="0">
              <a:buNone/>
            </a:pPr>
            <a:r>
              <a:rPr lang="en-ZA" sz="1100" dirty="0">
                <a:solidFill>
                  <a:schemeClr val="tx2"/>
                </a:solidFill>
              </a:rPr>
              <a:t>11a. Uses a loop to display the title of every task.</a:t>
            </a:r>
          </a:p>
          <a:p>
            <a:pPr marL="0" indent="0">
              <a:buNone/>
            </a:pPr>
            <a:r>
              <a:rPr lang="en-ZA" sz="1100" dirty="0">
                <a:solidFill>
                  <a:schemeClr val="tx2"/>
                </a:solidFill>
              </a:rPr>
              <a:t>for (let </a:t>
            </a:r>
            <a:r>
              <a:rPr lang="en-ZA" sz="1100" dirty="0" err="1">
                <a:solidFill>
                  <a:schemeClr val="tx2"/>
                </a:solidFill>
              </a:rPr>
              <a:t>i</a:t>
            </a:r>
            <a:r>
              <a:rPr lang="en-ZA" sz="1100" dirty="0">
                <a:solidFill>
                  <a:schemeClr val="tx2"/>
                </a:solidFill>
              </a:rPr>
              <a:t> =o; </a:t>
            </a:r>
            <a:r>
              <a:rPr lang="en-ZA" sz="1100" dirty="0" err="1">
                <a:solidFill>
                  <a:schemeClr val="tx2"/>
                </a:solidFill>
              </a:rPr>
              <a:t>i</a:t>
            </a:r>
            <a:r>
              <a:rPr lang="en-ZA" sz="1100" dirty="0">
                <a:solidFill>
                  <a:schemeClr val="tx2"/>
                </a:solidFill>
              </a:rPr>
              <a:t>&lt; </a:t>
            </a:r>
            <a:r>
              <a:rPr lang="en-ZA" sz="1100" dirty="0" err="1">
                <a:solidFill>
                  <a:schemeClr val="tx2"/>
                </a:solidFill>
              </a:rPr>
              <a:t>tasks.lengthj</a:t>
            </a:r>
            <a:r>
              <a:rPr lang="en-ZA" sz="1100" dirty="0">
                <a:solidFill>
                  <a:schemeClr val="tx2"/>
                </a:solidFill>
              </a:rPr>
              <a:t> </a:t>
            </a:r>
            <a:r>
              <a:rPr lang="en-ZA" sz="1100" dirty="0" err="1">
                <a:solidFill>
                  <a:schemeClr val="tx2"/>
                </a:solidFill>
              </a:rPr>
              <a:t>i</a:t>
            </a:r>
            <a:r>
              <a:rPr lang="en-ZA" sz="1100" dirty="0">
                <a:solidFill>
                  <a:schemeClr val="tx2"/>
                </a:solidFill>
              </a:rPr>
              <a:t>++)E </a:t>
            </a:r>
            <a:r>
              <a:rPr lang="en-ZA" sz="1100" dirty="0" err="1">
                <a:solidFill>
                  <a:schemeClr val="tx2"/>
                </a:solidFill>
              </a:rPr>
              <a:t>console.log</a:t>
            </a:r>
            <a:r>
              <a:rPr lang="en-ZA" sz="1100" dirty="0">
                <a:solidFill>
                  <a:schemeClr val="tx2"/>
                </a:solidFill>
              </a:rPr>
              <a:t> (tasks[</a:t>
            </a:r>
            <a:r>
              <a:rPr lang="en-ZA" sz="1100" dirty="0" err="1">
                <a:solidFill>
                  <a:schemeClr val="tx2"/>
                </a:solidFill>
              </a:rPr>
              <a:t>i</a:t>
            </a:r>
            <a:r>
              <a:rPr lang="en-ZA" sz="1100" dirty="0">
                <a:solidFill>
                  <a:schemeClr val="tx2"/>
                </a:solidFill>
              </a:rPr>
              <a:t>]. title);</a:t>
            </a:r>
          </a:p>
          <a:p>
            <a:pPr marL="0" indent="0">
              <a:buNone/>
            </a:pPr>
            <a:r>
              <a:rPr lang="en-ZA" sz="1100" dirty="0">
                <a:solidFill>
                  <a:schemeClr val="tx2"/>
                </a:solidFill>
              </a:rPr>
              <a:t>3;</a:t>
            </a:r>
          </a:p>
          <a:p>
            <a:pPr marL="0" indent="0">
              <a:buNone/>
            </a:pPr>
            <a:r>
              <a:rPr lang="en-ZA" sz="1100" dirty="0">
                <a:solidFill>
                  <a:schemeClr val="tx2"/>
                </a:solidFill>
              </a:rPr>
              <a:t>11b) </a:t>
            </a:r>
          </a:p>
          <a:p>
            <a:pPr marL="0" indent="0">
              <a:buNone/>
            </a:pPr>
            <a:r>
              <a:rPr lang="en-ZA" sz="1100" dirty="0">
                <a:solidFill>
                  <a:schemeClr val="tx2"/>
                </a:solidFill>
              </a:rPr>
              <a:t>b) for (let </a:t>
            </a:r>
            <a:r>
              <a:rPr lang="en-ZA" sz="1100" dirty="0" err="1">
                <a:solidFill>
                  <a:schemeClr val="tx2"/>
                </a:solidFill>
              </a:rPr>
              <a:t>i</a:t>
            </a:r>
            <a:r>
              <a:rPr lang="en-ZA" sz="1100" dirty="0">
                <a:solidFill>
                  <a:schemeClr val="tx2"/>
                </a:solidFill>
              </a:rPr>
              <a:t> =0; </a:t>
            </a:r>
            <a:r>
              <a:rPr lang="en-ZA" sz="1100" dirty="0" err="1">
                <a:solidFill>
                  <a:schemeClr val="tx2"/>
                </a:solidFill>
              </a:rPr>
              <a:t>i</a:t>
            </a:r>
            <a:r>
              <a:rPr lang="en-ZA" sz="1100" dirty="0">
                <a:solidFill>
                  <a:schemeClr val="tx2"/>
                </a:solidFill>
              </a:rPr>
              <a:t> &lt; tasks. length; </a:t>
            </a:r>
            <a:r>
              <a:rPr lang="en-ZA" sz="1100" dirty="0" err="1">
                <a:solidFill>
                  <a:schemeClr val="tx2"/>
                </a:solidFill>
              </a:rPr>
              <a:t>i</a:t>
            </a:r>
            <a:r>
              <a:rPr lang="en-ZA" sz="1100" dirty="0">
                <a:solidFill>
                  <a:schemeClr val="tx2"/>
                </a:solidFill>
              </a:rPr>
              <a:t>++) {</a:t>
            </a:r>
          </a:p>
          <a:p>
            <a:pPr marL="0" indent="0">
              <a:buNone/>
            </a:pPr>
            <a:r>
              <a:rPr lang="en-ZA" sz="1100" dirty="0">
                <a:solidFill>
                  <a:schemeClr val="tx2"/>
                </a:solidFill>
              </a:rPr>
              <a:t>if (tasks[</a:t>
            </a:r>
            <a:r>
              <a:rPr lang="en-ZA" sz="1100" dirty="0" err="1">
                <a:solidFill>
                  <a:schemeClr val="tx2"/>
                </a:solidFill>
              </a:rPr>
              <a:t>i</a:t>
            </a:r>
            <a:r>
              <a:rPr lang="en-ZA" sz="1100" dirty="0">
                <a:solidFill>
                  <a:schemeClr val="tx2"/>
                </a:solidFill>
              </a:rPr>
              <a:t>]. completed = == true) {</a:t>
            </a:r>
          </a:p>
          <a:p>
            <a:pPr marL="0" indent="0">
              <a:buNone/>
            </a:pPr>
            <a:r>
              <a:rPr lang="en-ZA" sz="1100" dirty="0">
                <a:solidFill>
                  <a:schemeClr val="tx2"/>
                </a:solidFill>
              </a:rPr>
              <a:t>3 console. log (tasks(</a:t>
            </a:r>
            <a:r>
              <a:rPr lang="en-ZA" sz="1100" dirty="0" err="1">
                <a:solidFill>
                  <a:schemeClr val="tx2"/>
                </a:solidFill>
              </a:rPr>
              <a:t>i</a:t>
            </a:r>
            <a:r>
              <a:rPr lang="en-ZA" sz="1100" dirty="0">
                <a:solidFill>
                  <a:schemeClr val="tx2"/>
                </a:solidFill>
              </a:rPr>
              <a:t>]. Title)</a:t>
            </a:r>
          </a:p>
          <a:p>
            <a:pPr marL="0" indent="0">
              <a:buNone/>
            </a:pPr>
            <a:r>
              <a:rPr lang="en-ZA" sz="1100" dirty="0">
                <a:solidFill>
                  <a:schemeClr val="tx2"/>
                </a:solidFill>
              </a:rPr>
              <a:t>};</a:t>
            </a:r>
          </a:p>
          <a:p>
            <a:pPr marL="0" indent="0">
              <a:buNone/>
            </a:pPr>
            <a:r>
              <a:rPr lang="en-ZA" sz="1100" dirty="0">
                <a:solidFill>
                  <a:schemeClr val="tx2"/>
                </a:solidFill>
              </a:rPr>
              <a:t>11c) Counts </a:t>
            </a:r>
          </a:p>
          <a:p>
            <a:pPr marL="0" indent="0">
              <a:buNone/>
            </a:pPr>
            <a:r>
              <a:rPr lang="en-ZA" sz="1100" dirty="0">
                <a:solidFill>
                  <a:schemeClr val="tx2"/>
                </a:solidFill>
              </a:rPr>
              <a:t>c) For(let </a:t>
            </a:r>
            <a:r>
              <a:rPr lang="en-ZA" sz="1100" dirty="0" err="1">
                <a:solidFill>
                  <a:schemeClr val="tx2"/>
                </a:solidFill>
              </a:rPr>
              <a:t>i</a:t>
            </a:r>
            <a:r>
              <a:rPr lang="en-ZA" sz="1100" dirty="0">
                <a:solidFill>
                  <a:schemeClr val="tx2"/>
                </a:solidFill>
              </a:rPr>
              <a:t> = 0; I &lt; </a:t>
            </a:r>
            <a:r>
              <a:rPr lang="en-ZA" sz="1100" dirty="0" err="1">
                <a:solidFill>
                  <a:schemeClr val="tx2"/>
                </a:solidFill>
              </a:rPr>
              <a:t>task.length</a:t>
            </a:r>
            <a:r>
              <a:rPr lang="en-ZA" sz="1100" dirty="0">
                <a:solidFill>
                  <a:schemeClr val="tx2"/>
                </a:solidFill>
              </a:rPr>
              <a:t> ; ii++) {</a:t>
            </a:r>
          </a:p>
          <a:p>
            <a:pPr marL="0" indent="0">
              <a:buNone/>
            </a:pPr>
            <a:r>
              <a:rPr lang="en-ZA" sz="1100" dirty="0">
                <a:solidFill>
                  <a:schemeClr val="tx2"/>
                </a:solidFill>
              </a:rPr>
              <a:t>If (task [</a:t>
            </a:r>
            <a:r>
              <a:rPr lang="en-ZA" sz="1100" dirty="0" err="1">
                <a:solidFill>
                  <a:schemeClr val="tx2"/>
                </a:solidFill>
              </a:rPr>
              <a:t>i</a:t>
            </a:r>
            <a:r>
              <a:rPr lang="en-ZA" sz="1100" dirty="0">
                <a:solidFill>
                  <a:schemeClr val="tx2"/>
                </a:solidFill>
              </a:rPr>
              <a:t>]. Completed === true) {</a:t>
            </a:r>
          </a:p>
          <a:p>
            <a:pPr marL="0" indent="0">
              <a:buNone/>
            </a:pPr>
            <a:r>
              <a:rPr lang="en-ZA" sz="1100" dirty="0">
                <a:solidFill>
                  <a:schemeClr val="tx2"/>
                </a:solidFill>
              </a:rPr>
              <a:t>Completed count ++ ;</a:t>
            </a:r>
          </a:p>
          <a:p>
            <a:pPr marL="0" indent="0">
              <a:buNone/>
            </a:pPr>
            <a:r>
              <a:rPr lang="en-ZA" sz="1100" dirty="0">
                <a:solidFill>
                  <a:schemeClr val="tx2"/>
                </a:solidFill>
              </a:rPr>
              <a:t>} </a:t>
            </a:r>
          </a:p>
          <a:p>
            <a:pPr marL="0" indent="0">
              <a:buNone/>
            </a:pPr>
            <a:r>
              <a:rPr lang="en-ZA" sz="1100" dirty="0">
                <a:solidFill>
                  <a:schemeClr val="tx2"/>
                </a:solidFill>
              </a:rPr>
              <a:t>}</a:t>
            </a:r>
            <a:r>
              <a:rPr lang="en-ZA" sz="1100" dirty="0" err="1">
                <a:solidFill>
                  <a:schemeClr val="tx2"/>
                </a:solidFill>
              </a:rPr>
              <a:t>console.log</a:t>
            </a:r>
            <a:r>
              <a:rPr lang="en-ZA" sz="1100" dirty="0">
                <a:solidFill>
                  <a:schemeClr val="tx2"/>
                </a:solidFill>
              </a:rPr>
              <a:t>(“Task are available”);</a:t>
            </a:r>
          </a:p>
          <a:p>
            <a:pPr marL="0" indent="0">
              <a:buNone/>
            </a:pPr>
            <a:endParaRPr lang="en-ZA" sz="1100" dirty="0">
              <a:solidFill>
                <a:schemeClr val="tx2"/>
              </a:solidFill>
            </a:endParaRPr>
          </a:p>
          <a:p>
            <a:pPr marL="0" indent="0">
              <a:buNone/>
            </a:pPr>
            <a:endParaRPr lang="en-US" sz="11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651958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Footer">
            <a:extLst>
              <a:ext uri="{FF2B5EF4-FFF2-40B4-BE49-F238E27FC236}">
                <a16:creationId xmlns:a16="http://schemas.microsoft.com/office/drawing/2014/main" id="{2DE5A6CF-8289-943A-0929-00A3E5B713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ED84D282-D0AC-68DC-EC58-B588A97B597E}"/>
              </a:ext>
            </a:extLst>
          </p:cNvPr>
          <p:cNvSpPr>
            <a:spLocks noGrp="1"/>
          </p:cNvSpPr>
          <p:nvPr>
            <p:ph idx="1"/>
          </p:nvPr>
        </p:nvSpPr>
        <p:spPr>
          <a:xfrm>
            <a:off x="6090574" y="217714"/>
            <a:ext cx="4977578" cy="5843257"/>
          </a:xfrm>
        </p:spPr>
        <p:txBody>
          <a:bodyPr anchor="ctr">
            <a:noAutofit/>
          </a:bodyPr>
          <a:lstStyle/>
          <a:p>
            <a:r>
              <a:rPr lang="en-GB" sz="1000" b="1" i="1" dirty="0">
                <a:solidFill>
                  <a:schemeClr val="tx2"/>
                </a:solidFill>
                <a:latin typeface="Calibri" panose="020F0502020204030204" pitchFamily="34" charset="0"/>
              </a:rPr>
              <a:t>15. Study the following statement: </a:t>
            </a:r>
            <a:r>
              <a:rPr lang="en-GB" sz="1000" i="1" dirty="0">
                <a:solidFill>
                  <a:schemeClr val="tx2"/>
                </a:solidFill>
                <a:latin typeface="Calibri" panose="020F0502020204030204" pitchFamily="34" charset="0"/>
              </a:rPr>
              <a:t>													</a:t>
            </a:r>
            <a:r>
              <a:rPr lang="en-GB" sz="1000" b="1" i="1" dirty="0">
                <a:solidFill>
                  <a:schemeClr val="tx2"/>
                </a:solidFill>
                <a:latin typeface="Calibri" panose="020F0502020204030204" pitchFamily="34" charset="0"/>
              </a:rPr>
              <a:t>(4 marks total)</a:t>
            </a:r>
          </a:p>
          <a:p>
            <a:endParaRPr lang="en-GB" sz="1000" b="1" i="1" dirty="0">
              <a:solidFill>
                <a:schemeClr val="tx2"/>
              </a:solidFill>
              <a:latin typeface="Calibri" panose="020F0502020204030204" pitchFamily="34" charset="0"/>
            </a:endParaRPr>
          </a:p>
          <a:p>
            <a:r>
              <a:rPr lang="en-GB" sz="1000" dirty="0" err="1">
                <a:solidFill>
                  <a:schemeClr val="tx2"/>
                </a:solidFill>
                <a:latin typeface="Calibri" panose="020F0502020204030204" pitchFamily="34" charset="0"/>
              </a:rPr>
              <a:t>document.cookie</a:t>
            </a:r>
            <a:r>
              <a:rPr lang="en-GB" sz="1000" dirty="0">
                <a:solidFill>
                  <a:schemeClr val="tx2"/>
                </a:solidFill>
                <a:latin typeface="Calibri" panose="020F0502020204030204" pitchFamily="34" charset="0"/>
              </a:rPr>
              <a:t> = "theme=dark; max-age=3600; path=/";</a:t>
            </a:r>
          </a:p>
          <a:p>
            <a:endParaRPr lang="en-GB" sz="1000" dirty="0">
              <a:solidFill>
                <a:schemeClr val="tx2"/>
              </a:solidFill>
              <a:latin typeface="Calibri" panose="020F0502020204030204" pitchFamily="34" charset="0"/>
            </a:endParaRPr>
          </a:p>
          <a:p>
            <a:r>
              <a:rPr lang="en-GB" sz="1000" i="1" dirty="0">
                <a:solidFill>
                  <a:schemeClr val="tx2"/>
                </a:solidFill>
                <a:latin typeface="Calibri" panose="020F0502020204030204" pitchFamily="34" charset="0"/>
              </a:rPr>
              <a:t>a. Explain what information the cookie stores. 												</a:t>
            </a:r>
            <a:r>
              <a:rPr lang="en-GB" sz="1000" b="1" i="1" dirty="0">
                <a:solidFill>
                  <a:schemeClr val="tx2"/>
                </a:solidFill>
                <a:latin typeface="Calibri" panose="020F0502020204030204" pitchFamily="34" charset="0"/>
              </a:rPr>
              <a:t>(1 mark)</a:t>
            </a:r>
          </a:p>
          <a:p>
            <a:r>
              <a:rPr lang="en-GB" sz="1000" dirty="0">
                <a:solidFill>
                  <a:schemeClr val="tx2"/>
                </a:solidFill>
                <a:latin typeface="Calibri" panose="020F0502020204030204" pitchFamily="34" charset="0"/>
              </a:rPr>
              <a:t>it stores a cookie called theme with the value dark. a small piece of data is saved in the users browser, in</a:t>
            </a:r>
          </a:p>
          <a:p>
            <a:r>
              <a:rPr lang="en-GB" sz="1000" dirty="0">
                <a:solidFill>
                  <a:schemeClr val="tx2"/>
                </a:solidFill>
                <a:latin typeface="Calibri" panose="020F0502020204030204" pitchFamily="34" charset="0"/>
              </a:rPr>
              <a:t>this case remembering that the user chose the dark theme, so it can be recalled next time</a:t>
            </a:r>
          </a:p>
          <a:p>
            <a:endParaRPr lang="en-GB" sz="1000" dirty="0">
              <a:solidFill>
                <a:schemeClr val="tx2"/>
              </a:solidFill>
              <a:latin typeface="Calibri" panose="020F0502020204030204" pitchFamily="34" charset="0"/>
            </a:endParaRPr>
          </a:p>
          <a:p>
            <a:r>
              <a:rPr lang="en-GB" sz="1000" i="1" dirty="0">
                <a:solidFill>
                  <a:schemeClr val="tx2"/>
                </a:solidFill>
                <a:latin typeface="Calibri" panose="020F0502020204030204" pitchFamily="34" charset="0"/>
              </a:rPr>
              <a:t>b. Explain the purpose of max-age=3600. 													</a:t>
            </a:r>
            <a:r>
              <a:rPr lang="en-GB" sz="1000" b="1" i="1" dirty="0">
                <a:solidFill>
                  <a:schemeClr val="tx2"/>
                </a:solidFill>
                <a:latin typeface="Calibri" panose="020F0502020204030204" pitchFamily="34" charset="0"/>
              </a:rPr>
              <a:t>(1 mark)</a:t>
            </a:r>
          </a:p>
          <a:p>
            <a:r>
              <a:rPr lang="en-GB" sz="1000" dirty="0">
                <a:solidFill>
                  <a:schemeClr val="tx2"/>
                </a:solidFill>
                <a:latin typeface="Calibri" panose="020F0502020204030204" pitchFamily="34" charset="0"/>
              </a:rPr>
              <a:t>It sets how long the cookie lasts, in seconds. The cookie automatically expires and is deleted 3600</a:t>
            </a:r>
          </a:p>
          <a:p>
            <a:r>
              <a:rPr lang="en-GB" sz="1000" dirty="0">
                <a:solidFill>
                  <a:schemeClr val="tx2"/>
                </a:solidFill>
                <a:latin typeface="Calibri" panose="020F0502020204030204" pitchFamily="34" charset="0"/>
              </a:rPr>
              <a:t>seconds (1 hour) after it was created.</a:t>
            </a:r>
          </a:p>
          <a:p>
            <a:endParaRPr lang="en-GB" sz="1000" dirty="0">
              <a:solidFill>
                <a:schemeClr val="tx2"/>
              </a:solidFill>
              <a:latin typeface="Calibri" panose="020F0502020204030204" pitchFamily="34" charset="0"/>
            </a:endParaRPr>
          </a:p>
          <a:p>
            <a:r>
              <a:rPr lang="en-GB" sz="1000" i="1" dirty="0">
                <a:solidFill>
                  <a:schemeClr val="tx2"/>
                </a:solidFill>
                <a:latin typeface="Calibri" panose="020F0502020204030204" pitchFamily="34" charset="0"/>
              </a:rPr>
              <a:t>c. Explain the purpose of path=/.															</a:t>
            </a:r>
            <a:r>
              <a:rPr lang="en-GB" sz="1000" b="1" i="1" dirty="0">
                <a:solidFill>
                  <a:schemeClr val="tx2"/>
                </a:solidFill>
                <a:latin typeface="Calibri" panose="020F0502020204030204" pitchFamily="34" charset="0"/>
              </a:rPr>
              <a:t>(1 mark)</a:t>
            </a:r>
          </a:p>
          <a:p>
            <a:r>
              <a:rPr lang="en-GB" sz="1000" dirty="0">
                <a:solidFill>
                  <a:schemeClr val="tx2"/>
                </a:solidFill>
                <a:latin typeface="Calibri" panose="020F0502020204030204" pitchFamily="34" charset="0"/>
              </a:rPr>
              <a:t>It says which part of the site the cookie can be used on. path=/ means the cookie is available on every</a:t>
            </a:r>
          </a:p>
          <a:p>
            <a:r>
              <a:rPr lang="en-GB" sz="1000" dirty="0">
                <a:solidFill>
                  <a:schemeClr val="tx2"/>
                </a:solidFill>
                <a:latin typeface="Calibri" panose="020F0502020204030204" pitchFamily="34" charset="0"/>
              </a:rPr>
              <a:t>page of the site, not just one folder or page.</a:t>
            </a:r>
          </a:p>
          <a:p>
            <a:endParaRPr lang="en-GB" sz="1000" dirty="0">
              <a:solidFill>
                <a:schemeClr val="tx2"/>
              </a:solidFill>
              <a:latin typeface="Calibri" panose="020F0502020204030204" pitchFamily="34" charset="0"/>
            </a:endParaRPr>
          </a:p>
          <a:p>
            <a:r>
              <a:rPr lang="en-GB" sz="1000" i="1" dirty="0">
                <a:solidFill>
                  <a:schemeClr val="tx2"/>
                </a:solidFill>
                <a:latin typeface="Calibri" panose="020F0502020204030204" pitchFamily="34" charset="0"/>
              </a:rPr>
              <a:t>d. Write a JavaScript statement that displays the available cookies. 								</a:t>
            </a:r>
            <a:r>
              <a:rPr lang="en-GB" sz="1000" b="1" i="1" dirty="0">
                <a:solidFill>
                  <a:schemeClr val="tx2"/>
                </a:solidFill>
                <a:latin typeface="Calibri" panose="020F0502020204030204" pitchFamily="34" charset="0"/>
              </a:rPr>
              <a:t>(1 mark)</a:t>
            </a:r>
          </a:p>
          <a:p>
            <a:r>
              <a:rPr lang="en-GB" sz="1000" dirty="0" err="1">
                <a:solidFill>
                  <a:schemeClr val="tx2"/>
                </a:solidFill>
                <a:latin typeface="Calibri" panose="020F0502020204030204" pitchFamily="34" charset="0"/>
              </a:rPr>
              <a:t>console.log</a:t>
            </a:r>
            <a:r>
              <a:rPr lang="en-GB" sz="1000" dirty="0">
                <a:solidFill>
                  <a:schemeClr val="tx2"/>
                </a:solidFill>
                <a:latin typeface="Calibri" panose="020F0502020204030204" pitchFamily="34" charset="0"/>
              </a:rPr>
              <a:t>(</a:t>
            </a:r>
            <a:r>
              <a:rPr lang="en-GB" sz="1000" dirty="0" err="1">
                <a:solidFill>
                  <a:schemeClr val="tx2"/>
                </a:solidFill>
                <a:latin typeface="Calibri" panose="020F0502020204030204" pitchFamily="34" charset="0"/>
              </a:rPr>
              <a:t>document.cookie</a:t>
            </a:r>
            <a:r>
              <a:rPr lang="en-GB" sz="1000" dirty="0">
                <a:solidFill>
                  <a:schemeClr val="tx2"/>
                </a:solidFill>
                <a:latin typeface="Calibri" panose="020F0502020204030204" pitchFamily="34" charset="0"/>
              </a:rPr>
              <a:t>);</a:t>
            </a:r>
          </a:p>
          <a:p>
            <a:pPr marL="0" indent="0">
              <a:buNone/>
            </a:pPr>
            <a:endParaRPr lang="en-US" sz="10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568080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Tick">
            <a:extLst>
              <a:ext uri="{FF2B5EF4-FFF2-40B4-BE49-F238E27FC236}">
                <a16:creationId xmlns:a16="http://schemas.microsoft.com/office/drawing/2014/main" id="{ADDC4027-9B7E-F2FB-B547-3E3F3004C7D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468A1F48-3EA6-E577-6BAC-A04CB64CC7FA}"/>
              </a:ext>
            </a:extLst>
          </p:cNvPr>
          <p:cNvSpPr>
            <a:spLocks noGrp="1"/>
          </p:cNvSpPr>
          <p:nvPr>
            <p:ph idx="1"/>
          </p:nvPr>
        </p:nvSpPr>
        <p:spPr>
          <a:xfrm>
            <a:off x="6090574" y="261258"/>
            <a:ext cx="4977578" cy="5799714"/>
          </a:xfrm>
        </p:spPr>
        <p:txBody>
          <a:bodyPr anchor="ctr">
            <a:normAutofit/>
          </a:bodyPr>
          <a:lstStyle/>
          <a:p>
            <a:pPr fontAlgn="base"/>
            <a:r>
              <a:rPr lang="en-US" sz="900" i="1" dirty="0">
                <a:solidFill>
                  <a:schemeClr val="tx2"/>
                </a:solidFill>
              </a:rPr>
              <a:t>b. Uses a conditional statement to display only completed tasks.</a:t>
            </a:r>
            <a:r>
              <a:rPr lang="en-US" sz="900" b="1" i="1" dirty="0">
                <a:solidFill>
                  <a:schemeClr val="tx2"/>
                </a:solidFill>
              </a:rPr>
              <a:t>(2 marks) </a:t>
            </a:r>
            <a:r>
              <a:rPr lang="en-US" sz="900" dirty="0">
                <a:solidFill>
                  <a:schemeClr val="tx2"/>
                </a:solidFill>
              </a:rPr>
              <a:t>​</a:t>
            </a:r>
          </a:p>
          <a:p>
            <a:pPr fontAlgn="base"/>
            <a:r>
              <a:rPr lang="en-US" sz="900" dirty="0">
                <a:solidFill>
                  <a:schemeClr val="tx2"/>
                </a:solidFill>
              </a:rPr>
              <a:t>for (const task of tasks) { ​</a:t>
            </a:r>
          </a:p>
          <a:p>
            <a:pPr fontAlgn="base"/>
            <a:r>
              <a:rPr lang="en-US" sz="900" dirty="0">
                <a:solidFill>
                  <a:schemeClr val="tx2"/>
                </a:solidFill>
              </a:rPr>
              <a:t> if (</a:t>
            </a:r>
            <a:r>
              <a:rPr lang="en-US" sz="900" dirty="0" err="1">
                <a:solidFill>
                  <a:schemeClr val="tx2"/>
                </a:solidFill>
              </a:rPr>
              <a:t>task.completed</a:t>
            </a:r>
            <a:r>
              <a:rPr lang="en-US" sz="900" dirty="0">
                <a:solidFill>
                  <a:schemeClr val="tx2"/>
                </a:solidFill>
              </a:rPr>
              <a:t>) ​</a:t>
            </a:r>
          </a:p>
          <a:p>
            <a:pPr fontAlgn="base"/>
            <a:r>
              <a:rPr lang="en-US" sz="900" dirty="0">
                <a:solidFill>
                  <a:schemeClr val="tx2"/>
                </a:solidFill>
              </a:rPr>
              <a:t>  {</a:t>
            </a:r>
            <a:r>
              <a:rPr lang="en-US" sz="900" dirty="0" err="1">
                <a:solidFill>
                  <a:schemeClr val="tx2"/>
                </a:solidFill>
              </a:rPr>
              <a:t>console.log</a:t>
            </a:r>
            <a:r>
              <a:rPr lang="en-US" sz="900" dirty="0">
                <a:solidFill>
                  <a:schemeClr val="tx2"/>
                </a:solidFill>
              </a:rPr>
              <a:t>(</a:t>
            </a:r>
            <a:r>
              <a:rPr lang="en-US" sz="900" dirty="0" err="1">
                <a:solidFill>
                  <a:schemeClr val="tx2"/>
                </a:solidFill>
              </a:rPr>
              <a:t>task.title</a:t>
            </a:r>
            <a:r>
              <a:rPr lang="en-US" sz="900" dirty="0">
                <a:solidFill>
                  <a:schemeClr val="tx2"/>
                </a:solidFill>
              </a:rPr>
              <a:t>); ​</a:t>
            </a:r>
          </a:p>
          <a:p>
            <a:pPr fontAlgn="base"/>
            <a:r>
              <a:rPr lang="en-US" sz="900" dirty="0">
                <a:solidFill>
                  <a:schemeClr val="tx2"/>
                </a:solidFill>
              </a:rPr>
              <a:t> } ​</a:t>
            </a:r>
          </a:p>
          <a:p>
            <a:pPr fontAlgn="base"/>
            <a:r>
              <a:rPr lang="en-US" sz="900" dirty="0">
                <a:solidFill>
                  <a:schemeClr val="tx2"/>
                </a:solidFill>
              </a:rPr>
              <a:t>} ​</a:t>
            </a:r>
          </a:p>
          <a:p>
            <a:pPr fontAlgn="base"/>
            <a:r>
              <a:rPr lang="en-US" sz="900" dirty="0">
                <a:solidFill>
                  <a:schemeClr val="tx2"/>
                </a:solidFill>
              </a:rPr>
              <a:t>​</a:t>
            </a:r>
          </a:p>
          <a:p>
            <a:pPr fontAlgn="base"/>
            <a:r>
              <a:rPr lang="en-US" sz="900" i="1" dirty="0">
                <a:solidFill>
                  <a:schemeClr val="tx2"/>
                </a:solidFill>
              </a:rPr>
              <a:t>c. Counts the number of completed tasks.</a:t>
            </a:r>
            <a:r>
              <a:rPr lang="en-US" sz="900" b="1" i="1" dirty="0">
                <a:solidFill>
                  <a:schemeClr val="tx2"/>
                </a:solidFill>
              </a:rPr>
              <a:t>(2 marks) </a:t>
            </a:r>
            <a:r>
              <a:rPr lang="en-US" sz="900" dirty="0">
                <a:solidFill>
                  <a:schemeClr val="tx2"/>
                </a:solidFill>
              </a:rPr>
              <a:t>​</a:t>
            </a:r>
          </a:p>
          <a:p>
            <a:pPr fontAlgn="base"/>
            <a:r>
              <a:rPr lang="en-US" sz="900" dirty="0">
                <a:solidFill>
                  <a:schemeClr val="tx2"/>
                </a:solidFill>
              </a:rPr>
              <a:t>const </a:t>
            </a:r>
            <a:r>
              <a:rPr lang="en-US" sz="900" dirty="0" err="1">
                <a:solidFill>
                  <a:schemeClr val="tx2"/>
                </a:solidFill>
              </a:rPr>
              <a:t>completedCount</a:t>
            </a:r>
            <a:r>
              <a:rPr lang="en-US" sz="900" dirty="0">
                <a:solidFill>
                  <a:schemeClr val="tx2"/>
                </a:solidFill>
              </a:rPr>
              <a:t> = </a:t>
            </a:r>
            <a:r>
              <a:rPr lang="en-US" sz="900" dirty="0" err="1">
                <a:solidFill>
                  <a:schemeClr val="tx2"/>
                </a:solidFill>
              </a:rPr>
              <a:t>tasks.filter</a:t>
            </a:r>
            <a:r>
              <a:rPr lang="en-US" sz="900" dirty="0">
                <a:solidFill>
                  <a:schemeClr val="tx2"/>
                </a:solidFill>
              </a:rPr>
              <a:t>(task =&gt; </a:t>
            </a:r>
            <a:r>
              <a:rPr lang="en-US" sz="900" dirty="0" err="1">
                <a:solidFill>
                  <a:schemeClr val="tx2"/>
                </a:solidFill>
              </a:rPr>
              <a:t>task.completed</a:t>
            </a:r>
            <a:r>
              <a:rPr lang="en-US" sz="900" dirty="0">
                <a:solidFill>
                  <a:schemeClr val="tx2"/>
                </a:solidFill>
              </a:rPr>
              <a:t>).length; ​</a:t>
            </a:r>
          </a:p>
          <a:p>
            <a:pPr fontAlgn="base"/>
            <a:r>
              <a:rPr lang="en-US" sz="900" dirty="0">
                <a:solidFill>
                  <a:schemeClr val="tx2"/>
                </a:solidFill>
              </a:rPr>
              <a:t> ​</a:t>
            </a:r>
          </a:p>
          <a:p>
            <a:pPr fontAlgn="base"/>
            <a:r>
              <a:rPr lang="en-US" sz="900" i="1" dirty="0">
                <a:solidFill>
                  <a:schemeClr val="tx2"/>
                </a:solidFill>
              </a:rPr>
              <a:t>d. Calculates the total number of hours for all tasks.</a:t>
            </a:r>
            <a:r>
              <a:rPr lang="en-US" sz="900" b="1" i="1" dirty="0">
                <a:solidFill>
                  <a:schemeClr val="tx2"/>
                </a:solidFill>
              </a:rPr>
              <a:t>(2 marks) </a:t>
            </a:r>
            <a:r>
              <a:rPr lang="en-US" sz="900" dirty="0">
                <a:solidFill>
                  <a:schemeClr val="tx2"/>
                </a:solidFill>
              </a:rPr>
              <a:t>​</a:t>
            </a:r>
          </a:p>
          <a:p>
            <a:pPr fontAlgn="base"/>
            <a:r>
              <a:rPr lang="en-US" sz="900" dirty="0">
                <a:solidFill>
                  <a:schemeClr val="tx2"/>
                </a:solidFill>
              </a:rPr>
              <a:t>const </a:t>
            </a:r>
            <a:r>
              <a:rPr lang="en-US" sz="900" dirty="0" err="1">
                <a:solidFill>
                  <a:schemeClr val="tx2"/>
                </a:solidFill>
              </a:rPr>
              <a:t>totalHours</a:t>
            </a:r>
            <a:r>
              <a:rPr lang="en-US" sz="900" dirty="0">
                <a:solidFill>
                  <a:schemeClr val="tx2"/>
                </a:solidFill>
              </a:rPr>
              <a:t> = </a:t>
            </a:r>
            <a:r>
              <a:rPr lang="en-US" sz="900" dirty="0" err="1">
                <a:solidFill>
                  <a:schemeClr val="tx2"/>
                </a:solidFill>
              </a:rPr>
              <a:t>tasks.reduce</a:t>
            </a:r>
            <a:r>
              <a:rPr lang="en-US" sz="900" dirty="0">
                <a:solidFill>
                  <a:schemeClr val="tx2"/>
                </a:solidFill>
              </a:rPr>
              <a:t>((sum, task) =&gt; sum + </a:t>
            </a:r>
            <a:r>
              <a:rPr lang="en-US" sz="900" dirty="0" err="1">
                <a:solidFill>
                  <a:schemeClr val="tx2"/>
                </a:solidFill>
              </a:rPr>
              <a:t>task.hours</a:t>
            </a:r>
            <a:r>
              <a:rPr lang="en-US" sz="900" dirty="0">
                <a:solidFill>
                  <a:schemeClr val="tx2"/>
                </a:solidFill>
              </a:rPr>
              <a:t>, 0) ​</a:t>
            </a:r>
          </a:p>
          <a:p>
            <a:pPr fontAlgn="base"/>
            <a:r>
              <a:rPr lang="en-US" sz="900" dirty="0">
                <a:solidFill>
                  <a:schemeClr val="tx2"/>
                </a:solidFill>
              </a:rPr>
              <a:t> ​</a:t>
            </a:r>
          </a:p>
          <a:p>
            <a:pPr fontAlgn="base"/>
            <a:r>
              <a:rPr lang="en-US" sz="900" i="1" dirty="0">
                <a:solidFill>
                  <a:schemeClr val="tx2"/>
                </a:solidFill>
              </a:rPr>
              <a:t>e. Displays an appropriate message if no tasks are available.</a:t>
            </a:r>
            <a:r>
              <a:rPr lang="en-US" sz="900" b="1" i="1" dirty="0">
                <a:solidFill>
                  <a:schemeClr val="tx2"/>
                </a:solidFill>
              </a:rPr>
              <a:t>(2 marks) </a:t>
            </a:r>
            <a:r>
              <a:rPr lang="en-US" sz="900" dirty="0">
                <a:solidFill>
                  <a:schemeClr val="tx2"/>
                </a:solidFill>
              </a:rPr>
              <a:t>​</a:t>
            </a:r>
          </a:p>
          <a:p>
            <a:pPr fontAlgn="base"/>
            <a:r>
              <a:rPr lang="en-US" sz="900" dirty="0">
                <a:solidFill>
                  <a:schemeClr val="tx2"/>
                </a:solidFill>
              </a:rPr>
              <a:t>if (</a:t>
            </a:r>
            <a:r>
              <a:rPr lang="en-US" sz="900" dirty="0" err="1">
                <a:solidFill>
                  <a:schemeClr val="tx2"/>
                </a:solidFill>
              </a:rPr>
              <a:t>tasks.length</a:t>
            </a:r>
            <a:r>
              <a:rPr lang="en-US" sz="900" dirty="0">
                <a:solidFill>
                  <a:schemeClr val="tx2"/>
                </a:solidFill>
              </a:rPr>
              <a:t> === 0) { ​</a:t>
            </a:r>
          </a:p>
          <a:p>
            <a:pPr fontAlgn="base"/>
            <a:r>
              <a:rPr lang="en-US" sz="900" dirty="0">
                <a:solidFill>
                  <a:schemeClr val="tx2"/>
                </a:solidFill>
              </a:rPr>
              <a:t>  </a:t>
            </a:r>
            <a:r>
              <a:rPr lang="en-US" sz="900" dirty="0" err="1">
                <a:solidFill>
                  <a:schemeClr val="tx2"/>
                </a:solidFill>
              </a:rPr>
              <a:t>console.log</a:t>
            </a:r>
            <a:r>
              <a:rPr lang="en-US" sz="900" dirty="0">
                <a:solidFill>
                  <a:schemeClr val="tx2"/>
                </a:solidFill>
              </a:rPr>
              <a:t>("No tasks are available."); ​</a:t>
            </a:r>
          </a:p>
          <a:p>
            <a:pPr fontAlgn="base"/>
            <a:r>
              <a:rPr lang="en-US" sz="900" dirty="0">
                <a:solidFill>
                  <a:schemeClr val="tx2"/>
                </a:solidFill>
              </a:rPr>
              <a:t>} else { ​</a:t>
            </a:r>
          </a:p>
          <a:p>
            <a:pPr fontAlgn="base"/>
            <a:r>
              <a:rPr lang="en-US" sz="900" dirty="0">
                <a:solidFill>
                  <a:schemeClr val="tx2"/>
                </a:solidFill>
              </a:rPr>
              <a:t>  // display or process the tasks as normal ​</a:t>
            </a:r>
          </a:p>
          <a:p>
            <a:pPr fontAlgn="base"/>
            <a:r>
              <a:rPr lang="en-US" sz="900" dirty="0">
                <a:solidFill>
                  <a:schemeClr val="tx2"/>
                </a:solidFill>
              </a:rPr>
              <a:t>} ​</a:t>
            </a:r>
          </a:p>
          <a:p>
            <a:pPr fontAlgn="base"/>
            <a:r>
              <a:rPr lang="en-ZA" sz="900" dirty="0">
                <a:solidFill>
                  <a:schemeClr val="tx2"/>
                </a:solidFill>
              </a:rPr>
              <a:t>​</a:t>
            </a:r>
          </a:p>
          <a:p>
            <a:endParaRPr lang="en-US" sz="9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270071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2">
            <a:extLst>
              <a:ext uri="{FF2B5EF4-FFF2-40B4-BE49-F238E27FC236}">
                <a16:creationId xmlns:a16="http://schemas.microsoft.com/office/drawing/2014/main" id="{86E78C30-0997-C991-7FE6-B4FC3FB73633}"/>
              </a:ext>
            </a:extLst>
          </p:cNvPr>
          <p:cNvSpPr/>
          <p:nvPr/>
        </p:nvSpPr>
        <p:spPr>
          <a:xfrm>
            <a:off x="682083" y="1856912"/>
            <a:ext cx="10827834" cy="5241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ZA" sz="3200" b="1" dirty="0"/>
              <a:t>Testing and Problem-Solving</a:t>
            </a:r>
          </a:p>
        </p:txBody>
      </p:sp>
      <p:sp>
        <p:nvSpPr>
          <p:cNvPr id="5" name="TextBox 5">
            <a:extLst>
              <a:ext uri="{FF2B5EF4-FFF2-40B4-BE49-F238E27FC236}">
                <a16:creationId xmlns:a16="http://schemas.microsoft.com/office/drawing/2014/main" id="{A637D5C0-E607-4681-E390-F47E2FEAA0C0}"/>
              </a:ext>
            </a:extLst>
          </p:cNvPr>
          <p:cNvSpPr txBox="1"/>
          <p:nvPr/>
        </p:nvSpPr>
        <p:spPr>
          <a:xfrm>
            <a:off x="682083" y="3246761"/>
            <a:ext cx="10827834" cy="175432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b="1" i="1" dirty="0">
                <a:solidFill>
                  <a:srgbClr val="000000"/>
                </a:solidFill>
                <a:latin typeface="Calibri" panose="020F0502020204030204" pitchFamily="34" charset="0"/>
              </a:rPr>
              <a:t>16. A registration form contains the following fields: name; email address; password; and</a:t>
            </a:r>
          </a:p>
          <a:p>
            <a:r>
              <a:rPr lang="en-GB" b="1" i="1" dirty="0">
                <a:solidFill>
                  <a:srgbClr val="000000"/>
                </a:solidFill>
                <a:latin typeface="Calibri" panose="020F0502020204030204" pitchFamily="34" charset="0"/>
              </a:rPr>
              <a:t>age. 																				(15 marks)</a:t>
            </a:r>
          </a:p>
          <a:p>
            <a:endParaRPr lang="en-GB" dirty="0"/>
          </a:p>
          <a:p>
            <a:r>
              <a:rPr lang="en-GB" dirty="0">
                <a:solidFill>
                  <a:srgbClr val="000000"/>
                </a:solidFill>
                <a:latin typeface="Calibri" panose="020F0502020204030204" pitchFamily="34" charset="0"/>
              </a:rPr>
              <a:t>Develop five test cases that could be used to test the form. Each test case must include the input or condition being tested and the expected result. Your test cases must include at least one valid submission, one missing value, one invalid email address, and one boundary-value test.</a:t>
            </a:r>
          </a:p>
        </p:txBody>
      </p:sp>
    </p:spTree>
    <p:extLst>
      <p:ext uri="{BB962C8B-B14F-4D97-AF65-F5344CB8AC3E}">
        <p14:creationId xmlns:p14="http://schemas.microsoft.com/office/powerpoint/2010/main" val="3999325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56C1104-995B-5629-148F-B64E3BD6F5BE}"/>
              </a:ext>
              <a:ext uri="{C183D7F6-B498-43B3-948B-1728B52AA6E4}">
                <adec:decorative xmlns:adec="http://schemas.microsoft.com/office/drawing/2017/decorative" val="1"/>
              </a:ext>
            </a:extLst>
          </p:cNvPr>
          <p:cNvPicPr>
            <a:picLocks noGrp="1" noChangeAspect="1"/>
          </p:cNvPicPr>
          <p:nvPr>
            <p:ph idx="1"/>
          </p:nvPr>
        </p:nvPicPr>
        <p:blipFill>
          <a:blip r:embed="rId2"/>
          <a:stretch>
            <a:fillRect/>
          </a:stretch>
        </p:blipFill>
        <p:spPr>
          <a:xfrm>
            <a:off x="2731940" y="1825625"/>
            <a:ext cx="6728119" cy="4351338"/>
          </a:xfrm>
          <a:prstGeom prst="rect">
            <a:avLst/>
          </a:prstGeom>
        </p:spPr>
      </p:pic>
    </p:spTree>
    <p:extLst>
      <p:ext uri="{BB962C8B-B14F-4D97-AF65-F5344CB8AC3E}">
        <p14:creationId xmlns:p14="http://schemas.microsoft.com/office/powerpoint/2010/main" val="32699234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TotalTime>
  <Words>1914</Words>
  <Application>Microsoft Macintosh PowerPoint</Application>
  <PresentationFormat>Widescreen</PresentationFormat>
  <Paragraphs>175</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Calibri</vt:lpstr>
      <vt:lpstr>Helvetica</vt:lpstr>
      <vt:lpstr>Office Theme</vt:lpstr>
      <vt:lpstr>Summative Project  JavaScript Programmer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Kenneth Gurure</dc:creator>
  <cp:lastModifiedBy>Kenneth Gurure</cp:lastModifiedBy>
  <cp:revision>2</cp:revision>
  <dcterms:created xsi:type="dcterms:W3CDTF">2026-09-03T07:26:09Z</dcterms:created>
  <dcterms:modified xsi:type="dcterms:W3CDTF">2026-09-03T11:00:16Z</dcterms:modified>
</cp:coreProperties>
</file>